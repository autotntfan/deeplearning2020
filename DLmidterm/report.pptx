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4" r:id="rId2"/>
    <p:sldId id="332" r:id="rId3"/>
    <p:sldId id="257" r:id="rId4"/>
    <p:sldId id="334" r:id="rId5"/>
    <p:sldId id="343" r:id="rId6"/>
    <p:sldId id="345" r:id="rId7"/>
    <p:sldId id="335" r:id="rId8"/>
    <p:sldId id="344" r:id="rId9"/>
    <p:sldId id="336" r:id="rId10"/>
    <p:sldId id="337" r:id="rId11"/>
    <p:sldId id="338" r:id="rId12"/>
    <p:sldId id="339" r:id="rId13"/>
    <p:sldId id="340" r:id="rId14"/>
  </p:sldIdLst>
  <p:sldSz cx="9144000" cy="5145088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C83"/>
    <a:srgbClr val="00FFFF"/>
    <a:srgbClr val="2A3586"/>
    <a:srgbClr val="969696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06" autoAdjust="0"/>
    <p:restoredTop sz="94660"/>
  </p:normalViewPr>
  <p:slideViewPr>
    <p:cSldViewPr>
      <p:cViewPr varScale="1">
        <p:scale>
          <a:sx n="185" d="100"/>
          <a:sy n="185" d="100"/>
        </p:scale>
        <p:origin x="126" y="594"/>
      </p:cViewPr>
      <p:guideLst>
        <p:guide orient="horz" pos="162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7A14F398-E279-4563-97D7-CD45B0F01439}" type="datetimeFigureOut">
              <a:rPr lang="zh-CN" altLang="en-US" smtClean="0"/>
              <a:pPr/>
              <a:t>2020/6/3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6F30D575-0996-4A75-BB26-7F3A64A1010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0755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30D575-0996-4A75-BB26-7F3A64A10107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288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C54B1-045F-43B3-BA26-8CCA5E81C2F6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835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D833F6-39CB-47A6-A5EC-FEA82D01737A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240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05198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61708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296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313"/>
            <a:ext cx="7772400" cy="110285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5550"/>
            <a:ext cx="6400800" cy="13148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pPr/>
              <a:t>2020/6/3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3000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pPr/>
              <a:t>2020/6/3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3000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6196"/>
            <a:ext cx="7772400" cy="102187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708"/>
            <a:ext cx="7772400" cy="11254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pPr/>
              <a:t>2020/6/3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3000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pPr/>
              <a:t>2020/6/3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3000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690"/>
            <a:ext cx="4040188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660"/>
            <a:ext cx="4040188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690"/>
            <a:ext cx="4041775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660"/>
            <a:ext cx="4041775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pPr/>
              <a:t>2020/6/3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3000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pPr/>
              <a:t>2020/6/3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3000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2698D24-4F14-41FE-BDC0-8E486DAF44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5088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EF66FBD-0AC2-40EE-8F60-FF97283CECE6}"/>
              </a:ext>
            </a:extLst>
          </p:cNvPr>
          <p:cNvSpPr/>
          <p:nvPr userDrawn="1"/>
        </p:nvSpPr>
        <p:spPr>
          <a:xfrm>
            <a:off x="323528" y="268288"/>
            <a:ext cx="8568952" cy="4644516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2921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pPr/>
              <a:t>2020/6/3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1520" y="232284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795"/>
            <a:endParaRPr lang="zh-CN" altLang="en-US" sz="1400" dirty="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slow" advClick="0" advTm="3000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21895227-4398-4B00-99E4-5B5DBBC3C3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5088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EDC8154-AEC5-4BBC-8DF9-F66F19FFF60C}"/>
              </a:ext>
            </a:extLst>
          </p:cNvPr>
          <p:cNvSpPr/>
          <p:nvPr userDrawn="1"/>
        </p:nvSpPr>
        <p:spPr>
          <a:xfrm>
            <a:off x="323528" y="268288"/>
            <a:ext cx="8568952" cy="4644516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2921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pPr/>
              <a:t>2020/6/3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1520" y="232284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795"/>
            <a:endParaRPr lang="zh-CN" altLang="en-US" sz="1400" dirty="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slow" advClick="0" advTm="3000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3F5E327C-8FDA-46E0-ADF9-C2584D7B29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5088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8FB7313-22A6-4CF9-9BE7-71143CF54027}"/>
              </a:ext>
            </a:extLst>
          </p:cNvPr>
          <p:cNvSpPr/>
          <p:nvPr userDrawn="1"/>
        </p:nvSpPr>
        <p:spPr>
          <a:xfrm>
            <a:off x="323528" y="268288"/>
            <a:ext cx="8568952" cy="4644516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2921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pPr/>
              <a:t>2020/6/3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1520" y="232284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795"/>
            <a:endParaRPr lang="zh-CN" altLang="en-US" sz="1400" dirty="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slow" advClick="0" advTm="3000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B5FDB555-FB17-4F63-BD27-1B654BE1C1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5088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39E59B0-ABC7-4279-AEC4-3269AD786C83}"/>
              </a:ext>
            </a:extLst>
          </p:cNvPr>
          <p:cNvSpPr/>
          <p:nvPr userDrawn="1"/>
        </p:nvSpPr>
        <p:spPr>
          <a:xfrm>
            <a:off x="323528" y="268288"/>
            <a:ext cx="8568952" cy="4644516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2921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pPr/>
              <a:t>2020/6/3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1520" y="232284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795"/>
            <a:endParaRPr lang="zh-CN" altLang="en-US" sz="1400" dirty="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slow" advClick="0" advTm="3000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851"/>
            <a:ext cx="3008313" cy="871807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851"/>
            <a:ext cx="5111750" cy="43911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658"/>
            <a:ext cx="3008313" cy="351938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pPr/>
              <a:t>2020/6/3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3000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1561"/>
            <a:ext cx="5486400" cy="425185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723"/>
            <a:ext cx="5486400" cy="30870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6746"/>
            <a:ext cx="5486400" cy="6038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pPr/>
              <a:t>2020/6/3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3000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pPr/>
              <a:t>2020/6/3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3000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829"/>
            <a:ext cx="2057400" cy="3293095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829"/>
            <a:ext cx="6019800" cy="329309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pPr/>
              <a:t>2020/6/3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3000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6841878"/>
      </p:ext>
    </p:extLst>
  </p:cSld>
  <p:clrMapOvr>
    <a:masterClrMapping/>
  </p:clrMapOvr>
  <p:transition spd="slow" advClick="0" advTm="3000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6841878"/>
      </p:ext>
    </p:extLst>
  </p:cSld>
  <p:clrMapOvr>
    <a:masterClrMapping/>
  </p:clrMapOvr>
  <p:transition spd="slow" advClick="0" advTm="3000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6841878"/>
      </p:ext>
    </p:extLst>
  </p:cSld>
  <p:clrMapOvr>
    <a:masterClrMapping/>
  </p:clrMapOvr>
  <p:transition spd="slow" advClick="0" advTm="3000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6841878"/>
      </p:ext>
    </p:extLst>
  </p:cSld>
  <p:clrMapOvr>
    <a:masterClrMapping/>
  </p:clrMapOvr>
  <p:transition spd="slow" advClick="0" advTm="3000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6841878"/>
      </p:ext>
    </p:extLst>
  </p:cSld>
  <p:clrMapOvr>
    <a:masterClrMapping/>
  </p:clrMapOvr>
  <p:transition spd="slow" advClick="0" advTm="3000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2925" y="0"/>
            <a:ext cx="9146672" cy="5145088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32" tIns="32516" rIns="65032" bIns="32516"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5391109"/>
      </p:ext>
    </p:extLst>
  </p:cSld>
  <p:clrMapOvr>
    <a:masterClrMapping/>
  </p:clrMapOvr>
  <p:transition spd="slow" advClick="0" advTm="3000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5088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9144000" cy="5145088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ea typeface="微软雅黑" panose="020B0503020204020204" pitchFamily="34" charset="-122"/>
            </a:endParaRPr>
          </a:p>
        </p:txBody>
      </p:sp>
      <p:sp>
        <p:nvSpPr>
          <p:cNvPr id="3" name="TextBox 1"/>
          <p:cNvSpPr txBox="1"/>
          <p:nvPr userDrawn="1"/>
        </p:nvSpPr>
        <p:spPr>
          <a:xfrm>
            <a:off x="3842567" y="368823"/>
            <a:ext cx="133882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/>
            <a:r>
              <a:rPr lang="zh-CN" altLang="en-US" sz="1500" b="1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点击添加标题</a:t>
            </a:r>
            <a:endParaRPr lang="en-US" altLang="zh-CN" sz="1500" b="1">
              <a:solidFill>
                <a:prstClr val="black">
                  <a:lumMod val="65000"/>
                  <a:lumOff val="3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TextBox 2"/>
          <p:cNvSpPr txBox="1"/>
          <p:nvPr userDrawn="1"/>
        </p:nvSpPr>
        <p:spPr>
          <a:xfrm>
            <a:off x="3274747" y="710766"/>
            <a:ext cx="2562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en Sans" panose="020B0606030504020204" pitchFamily="34" charset="0"/>
                <a:sym typeface="Arial" panose="020B0604020202020204" pitchFamily="34" charset="0"/>
              </a:rPr>
              <a:t>您的内容打在这里，或通过复制文本后在此选择粘贴，并选择只保留文字。</a:t>
            </a:r>
            <a:endParaRPr lang="en-US" sz="90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Open Sans" panose="020B0606030504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04500"/>
      </p:ext>
    </p:extLst>
  </p:cSld>
  <p:clrMapOvr>
    <a:masterClrMapping/>
  </p:clrMapOvr>
  <p:transition spd="slow" advClick="0" advTm="3000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253" y="196280"/>
            <a:ext cx="144024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2" tIns="34286" rIns="68572" bIns="34286" rtlCol="0" anchor="ctr"/>
          <a:lstStyle/>
          <a:p>
            <a:pPr algn="ctr" defTabSz="685658"/>
            <a:endParaRPr lang="zh-CN" altLang="en-US" sz="1400" dirty="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37"/>
          <p:cNvSpPr txBox="1"/>
          <p:nvPr userDrawn="1"/>
        </p:nvSpPr>
        <p:spPr>
          <a:xfrm>
            <a:off x="216273" y="196280"/>
            <a:ext cx="2189971" cy="315475"/>
          </a:xfrm>
          <a:prstGeom prst="rect">
            <a:avLst/>
          </a:prstGeom>
          <a:noFill/>
        </p:spPr>
        <p:txBody>
          <a:bodyPr wrap="none" lIns="68572" tIns="34286" rIns="68572" bIns="34286" rtlCol="0">
            <a:spAutoFit/>
          </a:bodyPr>
          <a:lstStyle/>
          <a:p>
            <a:pPr defTabSz="685658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4" name="文本框 38"/>
          <p:cNvSpPr txBox="1"/>
          <p:nvPr userDrawn="1"/>
        </p:nvSpPr>
        <p:spPr>
          <a:xfrm>
            <a:off x="265225" y="520317"/>
            <a:ext cx="2038917" cy="207753"/>
          </a:xfrm>
          <a:prstGeom prst="rect">
            <a:avLst/>
          </a:prstGeom>
          <a:noFill/>
        </p:spPr>
        <p:txBody>
          <a:bodyPr wrap="square" lIns="68572" tIns="34286" rIns="68572" bIns="34286" rtlCol="0">
            <a:spAutoFit/>
          </a:bodyPr>
          <a:lstStyle/>
          <a:p>
            <a:pPr algn="dist" defTabSz="685658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33314525"/>
      </p:ext>
    </p:extLst>
  </p:cSld>
  <p:clrMapOvr>
    <a:masterClrMapping/>
  </p:clrMapOvr>
  <p:transition spd="slow" advClick="0" advTm="3000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521"/>
            <a:ext cx="8229600" cy="3395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fld id="{2702115E-07FC-47AE-8678-8B681C689199}" type="datetimeFigureOut">
              <a:rPr lang="zh-CN" altLang="en-US" smtClean="0"/>
              <a:pPr/>
              <a:t>2020/6/3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8735"/>
            <a:ext cx="2895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fld id="{D7F5BB56-9B96-4394-98D1-089DE868BDAA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6" r:id="rId8"/>
    <p:sldLayoutId id="2147483667" r:id="rId9"/>
    <p:sldLayoutId id="2147483668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70" r:id="rId20"/>
    <p:sldLayoutId id="2147483671" r:id="rId21"/>
    <p:sldLayoutId id="2147483672" r:id="rId22"/>
  </p:sldLayoutIdLst>
  <p:transition spd="slow" advClick="0" advTm="3000">
    <p:push dir="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ary9987/Keras-TaiwanHighSpeedRail-captch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://www.tcivs.tc.edu.tw/resource/openfid.php?id=34528" TargetMode="External"/><Relationship Id="rId4" Type="http://schemas.openxmlformats.org/officeDocument/2006/relationships/hyperlink" Target="https://github.com/JasonLiTW/simple-railway-captcha-solver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jp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jp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B728FF92-D164-4954-8A94-D5F4C9430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5088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D495D99-7A4B-42BA-B6E6-E82DEBFE2F33}"/>
              </a:ext>
            </a:extLst>
          </p:cNvPr>
          <p:cNvSpPr/>
          <p:nvPr/>
        </p:nvSpPr>
        <p:spPr>
          <a:xfrm>
            <a:off x="503548" y="484312"/>
            <a:ext cx="8172908" cy="4176464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2921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>
            <a:cxnSpLocks/>
          </p:cNvCxnSpPr>
          <p:nvPr/>
        </p:nvCxnSpPr>
        <p:spPr>
          <a:xfrm>
            <a:off x="2268252" y="2819346"/>
            <a:ext cx="479867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167844" y="2964200"/>
            <a:ext cx="284431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B063012054</a:t>
            </a:r>
            <a:r>
              <a:rPr lang="zh-TW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林祐安</a:t>
            </a:r>
            <a:endParaRPr lang="en-US" altLang="zh-CN" sz="10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44C20A8E-CBAA-410D-9281-86A892803813}"/>
              </a:ext>
            </a:extLst>
          </p:cNvPr>
          <p:cNvSpPr txBox="1"/>
          <p:nvPr/>
        </p:nvSpPr>
        <p:spPr>
          <a:xfrm>
            <a:off x="2638945" y="2137269"/>
            <a:ext cx="39021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>
                <a:solidFill>
                  <a:schemeClr val="accent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DL Midterm report</a:t>
            </a:r>
            <a:endParaRPr lang="zh-CN" altLang="en-US" sz="3200" dirty="0">
              <a:solidFill>
                <a:schemeClr val="accent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1"/>
          <p:cNvSpPr>
            <a:spLocks/>
          </p:cNvSpPr>
          <p:nvPr/>
        </p:nvSpPr>
        <p:spPr bwMode="auto">
          <a:xfrm>
            <a:off x="4624389" y="1211873"/>
            <a:ext cx="1012825" cy="1873503"/>
          </a:xfrm>
          <a:custGeom>
            <a:avLst/>
            <a:gdLst>
              <a:gd name="T0" fmla="*/ 411595 w 69"/>
              <a:gd name="T1" fmla="*/ 278166 h 128"/>
              <a:gd name="T2" fmla="*/ 1014288 w 69"/>
              <a:gd name="T3" fmla="*/ 1771479 h 128"/>
              <a:gd name="T4" fmla="*/ 235197 w 69"/>
              <a:gd name="T5" fmla="*/ 1215147 h 128"/>
              <a:gd name="T6" fmla="*/ 411595 w 69"/>
              <a:gd name="T7" fmla="*/ 278166 h 12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9" h="128">
                <a:moveTo>
                  <a:pt x="28" y="19"/>
                </a:moveTo>
                <a:cubicBezTo>
                  <a:pt x="21" y="96"/>
                  <a:pt x="69" y="121"/>
                  <a:pt x="69" y="121"/>
                </a:cubicBezTo>
                <a:cubicBezTo>
                  <a:pt x="51" y="128"/>
                  <a:pt x="25" y="112"/>
                  <a:pt x="16" y="83"/>
                </a:cubicBezTo>
                <a:cubicBezTo>
                  <a:pt x="0" y="37"/>
                  <a:pt x="29" y="0"/>
                  <a:pt x="28" y="19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lIns="91442" tIns="45721" rIns="91442" bIns="45721"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1" name="Freeform 132"/>
          <p:cNvSpPr>
            <a:spLocks/>
          </p:cNvSpPr>
          <p:nvPr/>
        </p:nvSpPr>
        <p:spPr bwMode="auto">
          <a:xfrm>
            <a:off x="5303838" y="667287"/>
            <a:ext cx="1200150" cy="1657574"/>
          </a:xfrm>
          <a:custGeom>
            <a:avLst/>
            <a:gdLst>
              <a:gd name="T0" fmla="*/ 980348 w 82"/>
              <a:gd name="T1" fmla="*/ 190685 h 113"/>
              <a:gd name="T2" fmla="*/ 351169 w 82"/>
              <a:gd name="T3" fmla="*/ 1657495 h 113"/>
              <a:gd name="T4" fmla="*/ 190217 w 82"/>
              <a:gd name="T5" fmla="*/ 718737 h 113"/>
              <a:gd name="T6" fmla="*/ 980348 w 82"/>
              <a:gd name="T7" fmla="*/ 190685 h 11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82" h="113">
                <a:moveTo>
                  <a:pt x="67" y="13"/>
                </a:moveTo>
                <a:cubicBezTo>
                  <a:pt x="8" y="63"/>
                  <a:pt x="24" y="113"/>
                  <a:pt x="24" y="113"/>
                </a:cubicBezTo>
                <a:cubicBezTo>
                  <a:pt x="6" y="106"/>
                  <a:pt x="0" y="76"/>
                  <a:pt x="13" y="49"/>
                </a:cubicBezTo>
                <a:cubicBezTo>
                  <a:pt x="35" y="6"/>
                  <a:pt x="82" y="0"/>
                  <a:pt x="67" y="13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lIns="91442" tIns="45721" rIns="91442" bIns="45721"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2" name="Freeform 133"/>
          <p:cNvSpPr>
            <a:spLocks/>
          </p:cNvSpPr>
          <p:nvPr/>
        </p:nvSpPr>
        <p:spPr bwMode="auto">
          <a:xfrm>
            <a:off x="6373813" y="3042507"/>
            <a:ext cx="1206501" cy="1663925"/>
          </a:xfrm>
          <a:custGeom>
            <a:avLst/>
            <a:gdLst>
              <a:gd name="T0" fmla="*/ 220613 w 82"/>
              <a:gd name="T1" fmla="*/ 1487008 h 113"/>
              <a:gd name="T2" fmla="*/ 838328 w 82"/>
              <a:gd name="T3" fmla="*/ 0 h 113"/>
              <a:gd name="T4" fmla="*/ 1000110 w 82"/>
              <a:gd name="T5" fmla="*/ 942262 h 113"/>
              <a:gd name="T6" fmla="*/ 220613 w 82"/>
              <a:gd name="T7" fmla="*/ 1487008 h 11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82" h="113">
                <a:moveTo>
                  <a:pt x="15" y="101"/>
                </a:moveTo>
                <a:cubicBezTo>
                  <a:pt x="73" y="51"/>
                  <a:pt x="57" y="0"/>
                  <a:pt x="57" y="0"/>
                </a:cubicBezTo>
                <a:cubicBezTo>
                  <a:pt x="75" y="7"/>
                  <a:pt x="82" y="37"/>
                  <a:pt x="68" y="64"/>
                </a:cubicBezTo>
                <a:cubicBezTo>
                  <a:pt x="47" y="107"/>
                  <a:pt x="0" y="113"/>
                  <a:pt x="15" y="101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lIns="91442" tIns="45721" rIns="91442" bIns="45721"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3" name="Freeform 134"/>
          <p:cNvSpPr>
            <a:spLocks/>
          </p:cNvSpPr>
          <p:nvPr/>
        </p:nvSpPr>
        <p:spPr bwMode="auto">
          <a:xfrm>
            <a:off x="6788150" y="1545293"/>
            <a:ext cx="1670050" cy="1206663"/>
          </a:xfrm>
          <a:custGeom>
            <a:avLst/>
            <a:gdLst>
              <a:gd name="T0" fmla="*/ 1479441 w 114"/>
              <a:gd name="T1" fmla="*/ 985403 h 82"/>
              <a:gd name="T2" fmla="*/ 0 w 114"/>
              <a:gd name="T3" fmla="*/ 352980 h 82"/>
              <a:gd name="T4" fmla="*/ 952115 w 114"/>
              <a:gd name="T5" fmla="*/ 191198 h 82"/>
              <a:gd name="T6" fmla="*/ 1479441 w 114"/>
              <a:gd name="T7" fmla="*/ 985403 h 8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14" h="82">
                <a:moveTo>
                  <a:pt x="101" y="67"/>
                </a:moveTo>
                <a:cubicBezTo>
                  <a:pt x="51" y="8"/>
                  <a:pt x="0" y="24"/>
                  <a:pt x="0" y="24"/>
                </a:cubicBezTo>
                <a:cubicBezTo>
                  <a:pt x="8" y="7"/>
                  <a:pt x="37" y="0"/>
                  <a:pt x="65" y="13"/>
                </a:cubicBezTo>
                <a:cubicBezTo>
                  <a:pt x="108" y="35"/>
                  <a:pt x="114" y="82"/>
                  <a:pt x="101" y="67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lIns="91442" tIns="45721" rIns="91442" bIns="45721"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4" name="Freeform 135"/>
          <p:cNvSpPr>
            <a:spLocks/>
          </p:cNvSpPr>
          <p:nvPr/>
        </p:nvSpPr>
        <p:spPr bwMode="auto">
          <a:xfrm>
            <a:off x="4419600" y="2615412"/>
            <a:ext cx="1663700" cy="1206663"/>
          </a:xfrm>
          <a:custGeom>
            <a:avLst/>
            <a:gdLst>
              <a:gd name="T0" fmla="*/ 176674 w 113"/>
              <a:gd name="T1" fmla="*/ 220613 h 82"/>
              <a:gd name="T2" fmla="*/ 1663682 w 113"/>
              <a:gd name="T3" fmla="*/ 853035 h 82"/>
              <a:gd name="T4" fmla="*/ 721420 w 113"/>
              <a:gd name="T5" fmla="*/ 1014818 h 82"/>
              <a:gd name="T6" fmla="*/ 176674 w 113"/>
              <a:gd name="T7" fmla="*/ 220613 h 8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13" h="82">
                <a:moveTo>
                  <a:pt x="12" y="15"/>
                </a:moveTo>
                <a:cubicBezTo>
                  <a:pt x="62" y="74"/>
                  <a:pt x="113" y="58"/>
                  <a:pt x="113" y="58"/>
                </a:cubicBezTo>
                <a:cubicBezTo>
                  <a:pt x="106" y="76"/>
                  <a:pt x="76" y="82"/>
                  <a:pt x="49" y="69"/>
                </a:cubicBezTo>
                <a:cubicBezTo>
                  <a:pt x="5" y="47"/>
                  <a:pt x="0" y="0"/>
                  <a:pt x="12" y="15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lIns="91442" tIns="45721" rIns="91442" bIns="45721"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5" name="Freeform 136"/>
          <p:cNvSpPr>
            <a:spLocks/>
          </p:cNvSpPr>
          <p:nvPr/>
        </p:nvSpPr>
        <p:spPr bwMode="auto">
          <a:xfrm>
            <a:off x="6034088" y="872102"/>
            <a:ext cx="1879600" cy="1012962"/>
          </a:xfrm>
          <a:custGeom>
            <a:avLst/>
            <a:gdLst>
              <a:gd name="T0" fmla="*/ 1586372 w 128"/>
              <a:gd name="T1" fmla="*/ 411595 h 69"/>
              <a:gd name="T2" fmla="*/ 102820 w 128"/>
              <a:gd name="T3" fmla="*/ 1014288 h 69"/>
              <a:gd name="T4" fmla="*/ 646300 w 128"/>
              <a:gd name="T5" fmla="*/ 235197 h 69"/>
              <a:gd name="T6" fmla="*/ 1586372 w 128"/>
              <a:gd name="T7" fmla="*/ 411595 h 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8" h="69">
                <a:moveTo>
                  <a:pt x="108" y="28"/>
                </a:moveTo>
                <a:cubicBezTo>
                  <a:pt x="31" y="22"/>
                  <a:pt x="7" y="69"/>
                  <a:pt x="7" y="69"/>
                </a:cubicBezTo>
                <a:cubicBezTo>
                  <a:pt x="0" y="51"/>
                  <a:pt x="16" y="25"/>
                  <a:pt x="44" y="16"/>
                </a:cubicBezTo>
                <a:cubicBezTo>
                  <a:pt x="91" y="0"/>
                  <a:pt x="128" y="29"/>
                  <a:pt x="108" y="28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lIns="91442" tIns="45721" rIns="91442" bIns="45721"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6" name="Freeform 137"/>
          <p:cNvSpPr>
            <a:spLocks/>
          </p:cNvSpPr>
          <p:nvPr/>
        </p:nvSpPr>
        <p:spPr bwMode="auto">
          <a:xfrm>
            <a:off x="4964113" y="3488656"/>
            <a:ext cx="1879600" cy="1008198"/>
          </a:xfrm>
          <a:custGeom>
            <a:avLst/>
            <a:gdLst>
              <a:gd name="T0" fmla="*/ 279084 w 128"/>
              <a:gd name="T1" fmla="*/ 599019 h 69"/>
              <a:gd name="T2" fmla="*/ 1777324 w 128"/>
              <a:gd name="T3" fmla="*/ 0 h 69"/>
              <a:gd name="T4" fmla="*/ 1219156 w 128"/>
              <a:gd name="T5" fmla="*/ 774342 h 69"/>
              <a:gd name="T6" fmla="*/ 279084 w 128"/>
              <a:gd name="T7" fmla="*/ 599019 h 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8" h="69">
                <a:moveTo>
                  <a:pt x="19" y="41"/>
                </a:moveTo>
                <a:cubicBezTo>
                  <a:pt x="96" y="47"/>
                  <a:pt x="121" y="0"/>
                  <a:pt x="121" y="0"/>
                </a:cubicBezTo>
                <a:cubicBezTo>
                  <a:pt x="128" y="18"/>
                  <a:pt x="112" y="44"/>
                  <a:pt x="83" y="53"/>
                </a:cubicBezTo>
                <a:cubicBezTo>
                  <a:pt x="37" y="69"/>
                  <a:pt x="0" y="40"/>
                  <a:pt x="19" y="41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lIns="91442" tIns="45721" rIns="91442" bIns="45721"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7" name="Freeform 138"/>
          <p:cNvSpPr>
            <a:spLocks/>
          </p:cNvSpPr>
          <p:nvPr/>
        </p:nvSpPr>
        <p:spPr bwMode="auto">
          <a:xfrm>
            <a:off x="7240588" y="2281992"/>
            <a:ext cx="1001712" cy="1879854"/>
          </a:xfrm>
          <a:custGeom>
            <a:avLst/>
            <a:gdLst>
              <a:gd name="T0" fmla="*/ 604098 w 68"/>
              <a:gd name="T1" fmla="*/ 1601060 h 128"/>
              <a:gd name="T2" fmla="*/ 0 w 68"/>
              <a:gd name="T3" fmla="*/ 102820 h 128"/>
              <a:gd name="T4" fmla="*/ 780907 w 68"/>
              <a:gd name="T5" fmla="*/ 660988 h 128"/>
              <a:gd name="T6" fmla="*/ 604098 w 68"/>
              <a:gd name="T7" fmla="*/ 1601060 h 12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8" h="128">
                <a:moveTo>
                  <a:pt x="41" y="109"/>
                </a:moveTo>
                <a:cubicBezTo>
                  <a:pt x="47" y="32"/>
                  <a:pt x="0" y="7"/>
                  <a:pt x="0" y="7"/>
                </a:cubicBezTo>
                <a:cubicBezTo>
                  <a:pt x="18" y="0"/>
                  <a:pt x="43" y="16"/>
                  <a:pt x="53" y="45"/>
                </a:cubicBezTo>
                <a:cubicBezTo>
                  <a:pt x="68" y="91"/>
                  <a:pt x="39" y="128"/>
                  <a:pt x="41" y="109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lIns="91442" tIns="45721" rIns="91442" bIns="45721"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8" name="Freeform 139"/>
          <p:cNvSpPr>
            <a:spLocks/>
          </p:cNvSpPr>
          <p:nvPr/>
        </p:nvSpPr>
        <p:spPr bwMode="auto">
          <a:xfrm>
            <a:off x="4419600" y="1545293"/>
            <a:ext cx="1663700" cy="1206663"/>
          </a:xfrm>
          <a:custGeom>
            <a:avLst/>
            <a:gdLst>
              <a:gd name="T0" fmla="*/ 176674 w 113"/>
              <a:gd name="T1" fmla="*/ 985403 h 82"/>
              <a:gd name="T2" fmla="*/ 1663682 w 113"/>
              <a:gd name="T3" fmla="*/ 352980 h 82"/>
              <a:gd name="T4" fmla="*/ 721420 w 113"/>
              <a:gd name="T5" fmla="*/ 191198 h 82"/>
              <a:gd name="T6" fmla="*/ 176674 w 113"/>
              <a:gd name="T7" fmla="*/ 985403 h 8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13" h="82">
                <a:moveTo>
                  <a:pt x="12" y="67"/>
                </a:moveTo>
                <a:cubicBezTo>
                  <a:pt x="62" y="8"/>
                  <a:pt x="113" y="24"/>
                  <a:pt x="113" y="24"/>
                </a:cubicBezTo>
                <a:cubicBezTo>
                  <a:pt x="106" y="7"/>
                  <a:pt x="76" y="0"/>
                  <a:pt x="49" y="13"/>
                </a:cubicBezTo>
                <a:cubicBezTo>
                  <a:pt x="5" y="35"/>
                  <a:pt x="0" y="82"/>
                  <a:pt x="12" y="67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lIns="91442" tIns="45721" rIns="91442" bIns="45721"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9" name="Freeform 140"/>
          <p:cNvSpPr>
            <a:spLocks/>
          </p:cNvSpPr>
          <p:nvPr/>
        </p:nvSpPr>
        <p:spPr bwMode="auto">
          <a:xfrm>
            <a:off x="4624389" y="2281992"/>
            <a:ext cx="1012825" cy="1879854"/>
          </a:xfrm>
          <a:custGeom>
            <a:avLst/>
            <a:gdLst>
              <a:gd name="T0" fmla="*/ 411595 w 69"/>
              <a:gd name="T1" fmla="*/ 1601060 h 128"/>
              <a:gd name="T2" fmla="*/ 1014288 w 69"/>
              <a:gd name="T3" fmla="*/ 102820 h 128"/>
              <a:gd name="T4" fmla="*/ 235197 w 69"/>
              <a:gd name="T5" fmla="*/ 660988 h 128"/>
              <a:gd name="T6" fmla="*/ 411595 w 69"/>
              <a:gd name="T7" fmla="*/ 1601060 h 12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9" h="128">
                <a:moveTo>
                  <a:pt x="28" y="109"/>
                </a:moveTo>
                <a:cubicBezTo>
                  <a:pt x="21" y="32"/>
                  <a:pt x="69" y="7"/>
                  <a:pt x="69" y="7"/>
                </a:cubicBezTo>
                <a:cubicBezTo>
                  <a:pt x="51" y="0"/>
                  <a:pt x="25" y="16"/>
                  <a:pt x="16" y="45"/>
                </a:cubicBezTo>
                <a:cubicBezTo>
                  <a:pt x="0" y="91"/>
                  <a:pt x="29" y="128"/>
                  <a:pt x="28" y="109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lIns="91442" tIns="45721" rIns="91442" bIns="45721"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0" name="Freeform 141"/>
          <p:cNvSpPr>
            <a:spLocks/>
          </p:cNvSpPr>
          <p:nvPr/>
        </p:nvSpPr>
        <p:spPr bwMode="auto">
          <a:xfrm>
            <a:off x="6034088" y="3488656"/>
            <a:ext cx="1879600" cy="1008198"/>
          </a:xfrm>
          <a:custGeom>
            <a:avLst/>
            <a:gdLst>
              <a:gd name="T0" fmla="*/ 1586372 w 128"/>
              <a:gd name="T1" fmla="*/ 599019 h 69"/>
              <a:gd name="T2" fmla="*/ 102820 w 128"/>
              <a:gd name="T3" fmla="*/ 0 h 69"/>
              <a:gd name="T4" fmla="*/ 646300 w 128"/>
              <a:gd name="T5" fmla="*/ 774342 h 69"/>
              <a:gd name="T6" fmla="*/ 1586372 w 128"/>
              <a:gd name="T7" fmla="*/ 599019 h 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8" h="69">
                <a:moveTo>
                  <a:pt x="108" y="41"/>
                </a:moveTo>
                <a:cubicBezTo>
                  <a:pt x="31" y="47"/>
                  <a:pt x="7" y="0"/>
                  <a:pt x="7" y="0"/>
                </a:cubicBezTo>
                <a:cubicBezTo>
                  <a:pt x="0" y="18"/>
                  <a:pt x="16" y="44"/>
                  <a:pt x="44" y="53"/>
                </a:cubicBezTo>
                <a:cubicBezTo>
                  <a:pt x="91" y="69"/>
                  <a:pt x="128" y="40"/>
                  <a:pt x="108" y="41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lIns="91442" tIns="45721" rIns="91442" bIns="45721"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1" name="Freeform 142"/>
          <p:cNvSpPr>
            <a:spLocks/>
          </p:cNvSpPr>
          <p:nvPr/>
        </p:nvSpPr>
        <p:spPr bwMode="auto">
          <a:xfrm>
            <a:off x="4964113" y="872102"/>
            <a:ext cx="1879600" cy="1012962"/>
          </a:xfrm>
          <a:custGeom>
            <a:avLst/>
            <a:gdLst>
              <a:gd name="T0" fmla="*/ 279084 w 128"/>
              <a:gd name="T1" fmla="*/ 411595 h 69"/>
              <a:gd name="T2" fmla="*/ 1777324 w 128"/>
              <a:gd name="T3" fmla="*/ 1014288 h 69"/>
              <a:gd name="T4" fmla="*/ 1219156 w 128"/>
              <a:gd name="T5" fmla="*/ 235197 h 69"/>
              <a:gd name="T6" fmla="*/ 279084 w 128"/>
              <a:gd name="T7" fmla="*/ 411595 h 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8" h="69">
                <a:moveTo>
                  <a:pt x="19" y="28"/>
                </a:moveTo>
                <a:cubicBezTo>
                  <a:pt x="96" y="22"/>
                  <a:pt x="121" y="69"/>
                  <a:pt x="121" y="69"/>
                </a:cubicBezTo>
                <a:cubicBezTo>
                  <a:pt x="128" y="51"/>
                  <a:pt x="112" y="25"/>
                  <a:pt x="83" y="16"/>
                </a:cubicBezTo>
                <a:cubicBezTo>
                  <a:pt x="37" y="0"/>
                  <a:pt x="0" y="29"/>
                  <a:pt x="19" y="28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lIns="91442" tIns="45721" rIns="91442" bIns="45721"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2" name="Freeform 143"/>
          <p:cNvSpPr>
            <a:spLocks/>
          </p:cNvSpPr>
          <p:nvPr/>
        </p:nvSpPr>
        <p:spPr bwMode="auto">
          <a:xfrm>
            <a:off x="5303838" y="3042507"/>
            <a:ext cx="1200150" cy="1663925"/>
          </a:xfrm>
          <a:custGeom>
            <a:avLst/>
            <a:gdLst>
              <a:gd name="T0" fmla="*/ 980348 w 82"/>
              <a:gd name="T1" fmla="*/ 1487008 h 113"/>
              <a:gd name="T2" fmla="*/ 351169 w 82"/>
              <a:gd name="T3" fmla="*/ 0 h 113"/>
              <a:gd name="T4" fmla="*/ 190217 w 82"/>
              <a:gd name="T5" fmla="*/ 942262 h 113"/>
              <a:gd name="T6" fmla="*/ 980348 w 82"/>
              <a:gd name="T7" fmla="*/ 1487008 h 11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82" h="113">
                <a:moveTo>
                  <a:pt x="67" y="101"/>
                </a:moveTo>
                <a:cubicBezTo>
                  <a:pt x="8" y="51"/>
                  <a:pt x="24" y="0"/>
                  <a:pt x="24" y="0"/>
                </a:cubicBezTo>
                <a:cubicBezTo>
                  <a:pt x="6" y="7"/>
                  <a:pt x="0" y="37"/>
                  <a:pt x="13" y="64"/>
                </a:cubicBezTo>
                <a:cubicBezTo>
                  <a:pt x="35" y="107"/>
                  <a:pt x="82" y="113"/>
                  <a:pt x="67" y="101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lIns="91442" tIns="45721" rIns="91442" bIns="45721"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3" name="Freeform 144"/>
          <p:cNvSpPr>
            <a:spLocks/>
          </p:cNvSpPr>
          <p:nvPr/>
        </p:nvSpPr>
        <p:spPr bwMode="auto">
          <a:xfrm>
            <a:off x="6788150" y="2615412"/>
            <a:ext cx="1670050" cy="1206663"/>
          </a:xfrm>
          <a:custGeom>
            <a:avLst/>
            <a:gdLst>
              <a:gd name="T0" fmla="*/ 1479441 w 114"/>
              <a:gd name="T1" fmla="*/ 220613 h 82"/>
              <a:gd name="T2" fmla="*/ 0 w 114"/>
              <a:gd name="T3" fmla="*/ 853035 h 82"/>
              <a:gd name="T4" fmla="*/ 952115 w 114"/>
              <a:gd name="T5" fmla="*/ 1014818 h 82"/>
              <a:gd name="T6" fmla="*/ 1479441 w 114"/>
              <a:gd name="T7" fmla="*/ 220613 h 8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14" h="82">
                <a:moveTo>
                  <a:pt x="101" y="15"/>
                </a:moveTo>
                <a:cubicBezTo>
                  <a:pt x="51" y="74"/>
                  <a:pt x="0" y="58"/>
                  <a:pt x="0" y="58"/>
                </a:cubicBezTo>
                <a:cubicBezTo>
                  <a:pt x="8" y="76"/>
                  <a:pt x="37" y="82"/>
                  <a:pt x="65" y="69"/>
                </a:cubicBezTo>
                <a:cubicBezTo>
                  <a:pt x="108" y="47"/>
                  <a:pt x="114" y="0"/>
                  <a:pt x="101" y="15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lIns="91442" tIns="45721" rIns="91442" bIns="45721"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4" name="Freeform 145"/>
          <p:cNvSpPr>
            <a:spLocks/>
          </p:cNvSpPr>
          <p:nvPr/>
        </p:nvSpPr>
        <p:spPr bwMode="auto">
          <a:xfrm>
            <a:off x="7240588" y="1211873"/>
            <a:ext cx="1001712" cy="1873503"/>
          </a:xfrm>
          <a:custGeom>
            <a:avLst/>
            <a:gdLst>
              <a:gd name="T0" fmla="*/ 604098 w 68"/>
              <a:gd name="T1" fmla="*/ 278166 h 128"/>
              <a:gd name="T2" fmla="*/ 0 w 68"/>
              <a:gd name="T3" fmla="*/ 1771479 h 128"/>
              <a:gd name="T4" fmla="*/ 780907 w 68"/>
              <a:gd name="T5" fmla="*/ 1215147 h 128"/>
              <a:gd name="T6" fmla="*/ 604098 w 68"/>
              <a:gd name="T7" fmla="*/ 278166 h 12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8" h="128">
                <a:moveTo>
                  <a:pt x="41" y="19"/>
                </a:moveTo>
                <a:cubicBezTo>
                  <a:pt x="47" y="96"/>
                  <a:pt x="0" y="121"/>
                  <a:pt x="0" y="121"/>
                </a:cubicBezTo>
                <a:cubicBezTo>
                  <a:pt x="18" y="128"/>
                  <a:pt x="43" y="112"/>
                  <a:pt x="53" y="83"/>
                </a:cubicBezTo>
                <a:cubicBezTo>
                  <a:pt x="68" y="37"/>
                  <a:pt x="39" y="0"/>
                  <a:pt x="41" y="19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lIns="91442" tIns="45721" rIns="91442" bIns="45721"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5" name="Freeform 146"/>
          <p:cNvSpPr>
            <a:spLocks/>
          </p:cNvSpPr>
          <p:nvPr/>
        </p:nvSpPr>
        <p:spPr bwMode="auto">
          <a:xfrm>
            <a:off x="6373813" y="667287"/>
            <a:ext cx="1206501" cy="1657574"/>
          </a:xfrm>
          <a:custGeom>
            <a:avLst/>
            <a:gdLst>
              <a:gd name="T0" fmla="*/ 220613 w 82"/>
              <a:gd name="T1" fmla="*/ 190685 h 113"/>
              <a:gd name="T2" fmla="*/ 838328 w 82"/>
              <a:gd name="T3" fmla="*/ 1657495 h 113"/>
              <a:gd name="T4" fmla="*/ 1000110 w 82"/>
              <a:gd name="T5" fmla="*/ 718737 h 113"/>
              <a:gd name="T6" fmla="*/ 220613 w 82"/>
              <a:gd name="T7" fmla="*/ 190685 h 11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82" h="113">
                <a:moveTo>
                  <a:pt x="15" y="13"/>
                </a:moveTo>
                <a:cubicBezTo>
                  <a:pt x="73" y="63"/>
                  <a:pt x="57" y="113"/>
                  <a:pt x="57" y="113"/>
                </a:cubicBezTo>
                <a:cubicBezTo>
                  <a:pt x="75" y="106"/>
                  <a:pt x="82" y="76"/>
                  <a:pt x="68" y="49"/>
                </a:cubicBezTo>
                <a:cubicBezTo>
                  <a:pt x="47" y="6"/>
                  <a:pt x="0" y="0"/>
                  <a:pt x="15" y="13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lIns="91442" tIns="45721" rIns="91442" bIns="45721"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grpSp>
        <p:nvGrpSpPr>
          <p:cNvPr id="2" name="Group 25"/>
          <p:cNvGrpSpPr/>
          <p:nvPr/>
        </p:nvGrpSpPr>
        <p:grpSpPr>
          <a:xfrm>
            <a:off x="5922480" y="2172846"/>
            <a:ext cx="864335" cy="912981"/>
            <a:chOff x="6359525" y="5041900"/>
            <a:chExt cx="452438" cy="477838"/>
          </a:xfrm>
          <a:solidFill>
            <a:schemeClr val="accent2"/>
          </a:solidFill>
        </p:grpSpPr>
        <p:sp>
          <p:nvSpPr>
            <p:cNvPr id="27" name="Freeform 26"/>
            <p:cNvSpPr>
              <a:spLocks/>
            </p:cNvSpPr>
            <p:nvPr/>
          </p:nvSpPr>
          <p:spPr bwMode="auto">
            <a:xfrm>
              <a:off x="6464300" y="5041900"/>
              <a:ext cx="239713" cy="277813"/>
            </a:xfrm>
            <a:custGeom>
              <a:avLst/>
              <a:gdLst>
                <a:gd name="T0" fmla="*/ 63 w 64"/>
                <a:gd name="T1" fmla="*/ 36 h 74"/>
                <a:gd name="T2" fmla="*/ 61 w 64"/>
                <a:gd name="T3" fmla="*/ 34 h 74"/>
                <a:gd name="T4" fmla="*/ 61 w 64"/>
                <a:gd name="T5" fmla="*/ 21 h 74"/>
                <a:gd name="T6" fmla="*/ 33 w 64"/>
                <a:gd name="T7" fmla="*/ 0 h 74"/>
                <a:gd name="T8" fmla="*/ 19 w 64"/>
                <a:gd name="T9" fmla="*/ 4 h 74"/>
                <a:gd name="T10" fmla="*/ 4 w 64"/>
                <a:gd name="T11" fmla="*/ 21 h 74"/>
                <a:gd name="T12" fmla="*/ 3 w 64"/>
                <a:gd name="T13" fmla="*/ 34 h 74"/>
                <a:gd name="T14" fmla="*/ 1 w 64"/>
                <a:gd name="T15" fmla="*/ 36 h 74"/>
                <a:gd name="T16" fmla="*/ 1 w 64"/>
                <a:gd name="T17" fmla="*/ 45 h 74"/>
                <a:gd name="T18" fmla="*/ 7 w 64"/>
                <a:gd name="T19" fmla="*/ 54 h 74"/>
                <a:gd name="T20" fmla="*/ 32 w 64"/>
                <a:gd name="T21" fmla="*/ 74 h 74"/>
                <a:gd name="T22" fmla="*/ 57 w 64"/>
                <a:gd name="T23" fmla="*/ 54 h 74"/>
                <a:gd name="T24" fmla="*/ 63 w 64"/>
                <a:gd name="T25" fmla="*/ 45 h 74"/>
                <a:gd name="T26" fmla="*/ 63 w 64"/>
                <a:gd name="T27" fmla="*/ 3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" h="74">
                  <a:moveTo>
                    <a:pt x="63" y="36"/>
                  </a:moveTo>
                  <a:cubicBezTo>
                    <a:pt x="62" y="35"/>
                    <a:pt x="62" y="34"/>
                    <a:pt x="61" y="34"/>
                  </a:cubicBezTo>
                  <a:cubicBezTo>
                    <a:pt x="61" y="28"/>
                    <a:pt x="61" y="25"/>
                    <a:pt x="61" y="21"/>
                  </a:cubicBezTo>
                  <a:cubicBezTo>
                    <a:pt x="59" y="9"/>
                    <a:pt x="50" y="0"/>
                    <a:pt x="33" y="0"/>
                  </a:cubicBezTo>
                  <a:cubicBezTo>
                    <a:pt x="24" y="0"/>
                    <a:pt x="26" y="4"/>
                    <a:pt x="19" y="4"/>
                  </a:cubicBezTo>
                  <a:cubicBezTo>
                    <a:pt x="7" y="5"/>
                    <a:pt x="5" y="15"/>
                    <a:pt x="4" y="21"/>
                  </a:cubicBezTo>
                  <a:cubicBezTo>
                    <a:pt x="3" y="25"/>
                    <a:pt x="3" y="28"/>
                    <a:pt x="3" y="34"/>
                  </a:cubicBezTo>
                  <a:cubicBezTo>
                    <a:pt x="3" y="34"/>
                    <a:pt x="2" y="35"/>
                    <a:pt x="1" y="36"/>
                  </a:cubicBezTo>
                  <a:cubicBezTo>
                    <a:pt x="0" y="38"/>
                    <a:pt x="0" y="42"/>
                    <a:pt x="1" y="45"/>
                  </a:cubicBezTo>
                  <a:cubicBezTo>
                    <a:pt x="3" y="49"/>
                    <a:pt x="5" y="52"/>
                    <a:pt x="7" y="54"/>
                  </a:cubicBezTo>
                  <a:cubicBezTo>
                    <a:pt x="10" y="66"/>
                    <a:pt x="20" y="74"/>
                    <a:pt x="32" y="74"/>
                  </a:cubicBezTo>
                  <a:cubicBezTo>
                    <a:pt x="44" y="74"/>
                    <a:pt x="54" y="66"/>
                    <a:pt x="57" y="54"/>
                  </a:cubicBezTo>
                  <a:cubicBezTo>
                    <a:pt x="60" y="52"/>
                    <a:pt x="62" y="49"/>
                    <a:pt x="63" y="45"/>
                  </a:cubicBezTo>
                  <a:cubicBezTo>
                    <a:pt x="64" y="42"/>
                    <a:pt x="64" y="38"/>
                    <a:pt x="63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dirty="0"/>
            </a:p>
          </p:txBody>
        </p:sp>
        <p:sp>
          <p:nvSpPr>
            <p:cNvPr id="28" name="Freeform 27"/>
            <p:cNvSpPr>
              <a:spLocks/>
            </p:cNvSpPr>
            <p:nvPr/>
          </p:nvSpPr>
          <p:spPr bwMode="auto">
            <a:xfrm>
              <a:off x="6359525" y="5327650"/>
              <a:ext cx="452438" cy="192088"/>
            </a:xfrm>
            <a:custGeom>
              <a:avLst/>
              <a:gdLst>
                <a:gd name="T0" fmla="*/ 115 w 121"/>
                <a:gd name="T1" fmla="*/ 14 h 51"/>
                <a:gd name="T2" fmla="*/ 89 w 121"/>
                <a:gd name="T3" fmla="*/ 0 h 51"/>
                <a:gd name="T4" fmla="*/ 76 w 121"/>
                <a:gd name="T5" fmla="*/ 6 h 51"/>
                <a:gd name="T6" fmla="*/ 67 w 121"/>
                <a:gd name="T7" fmla="*/ 35 h 51"/>
                <a:gd name="T8" fmla="*/ 65 w 121"/>
                <a:gd name="T9" fmla="*/ 35 h 51"/>
                <a:gd name="T10" fmla="*/ 64 w 121"/>
                <a:gd name="T11" fmla="*/ 22 h 51"/>
                <a:gd name="T12" fmla="*/ 65 w 121"/>
                <a:gd name="T13" fmla="*/ 16 h 51"/>
                <a:gd name="T14" fmla="*/ 66 w 121"/>
                <a:gd name="T15" fmla="*/ 14 h 51"/>
                <a:gd name="T16" fmla="*/ 66 w 121"/>
                <a:gd name="T17" fmla="*/ 9 h 51"/>
                <a:gd name="T18" fmla="*/ 54 w 121"/>
                <a:gd name="T19" fmla="*/ 9 h 51"/>
                <a:gd name="T20" fmla="*/ 55 w 121"/>
                <a:gd name="T21" fmla="*/ 14 h 51"/>
                <a:gd name="T22" fmla="*/ 56 w 121"/>
                <a:gd name="T23" fmla="*/ 16 h 51"/>
                <a:gd name="T24" fmla="*/ 57 w 121"/>
                <a:gd name="T25" fmla="*/ 22 h 51"/>
                <a:gd name="T26" fmla="*/ 55 w 121"/>
                <a:gd name="T27" fmla="*/ 35 h 51"/>
                <a:gd name="T28" fmla="*/ 53 w 121"/>
                <a:gd name="T29" fmla="*/ 35 h 51"/>
                <a:gd name="T30" fmla="*/ 44 w 121"/>
                <a:gd name="T31" fmla="*/ 6 h 51"/>
                <a:gd name="T32" fmla="*/ 32 w 121"/>
                <a:gd name="T33" fmla="*/ 0 h 51"/>
                <a:gd name="T34" fmla="*/ 6 w 121"/>
                <a:gd name="T35" fmla="*/ 14 h 51"/>
                <a:gd name="T36" fmla="*/ 0 w 121"/>
                <a:gd name="T37" fmla="*/ 35 h 51"/>
                <a:gd name="T38" fmla="*/ 60 w 121"/>
                <a:gd name="T39" fmla="*/ 51 h 51"/>
                <a:gd name="T40" fmla="*/ 121 w 121"/>
                <a:gd name="T41" fmla="*/ 35 h 51"/>
                <a:gd name="T42" fmla="*/ 115 w 121"/>
                <a:gd name="T43" fmla="*/ 14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1" h="51">
                  <a:moveTo>
                    <a:pt x="115" y="14"/>
                  </a:moveTo>
                  <a:cubicBezTo>
                    <a:pt x="111" y="8"/>
                    <a:pt x="100" y="2"/>
                    <a:pt x="89" y="0"/>
                  </a:cubicBezTo>
                  <a:cubicBezTo>
                    <a:pt x="84" y="3"/>
                    <a:pt x="81" y="5"/>
                    <a:pt x="76" y="6"/>
                  </a:cubicBezTo>
                  <a:cubicBezTo>
                    <a:pt x="74" y="16"/>
                    <a:pt x="70" y="29"/>
                    <a:pt x="67" y="35"/>
                  </a:cubicBezTo>
                  <a:cubicBezTo>
                    <a:pt x="67" y="37"/>
                    <a:pt x="66" y="37"/>
                    <a:pt x="65" y="35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63" y="20"/>
                    <a:pt x="64" y="18"/>
                    <a:pt x="65" y="16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7" y="12"/>
                    <a:pt x="67" y="10"/>
                    <a:pt x="66" y="9"/>
                  </a:cubicBezTo>
                  <a:cubicBezTo>
                    <a:pt x="62" y="9"/>
                    <a:pt x="58" y="9"/>
                    <a:pt x="54" y="9"/>
                  </a:cubicBezTo>
                  <a:cubicBezTo>
                    <a:pt x="54" y="10"/>
                    <a:pt x="54" y="12"/>
                    <a:pt x="55" y="14"/>
                  </a:cubicBezTo>
                  <a:cubicBezTo>
                    <a:pt x="56" y="16"/>
                    <a:pt x="56" y="16"/>
                    <a:pt x="56" y="16"/>
                  </a:cubicBezTo>
                  <a:cubicBezTo>
                    <a:pt x="57" y="18"/>
                    <a:pt x="57" y="20"/>
                    <a:pt x="57" y="22"/>
                  </a:cubicBezTo>
                  <a:cubicBezTo>
                    <a:pt x="55" y="35"/>
                    <a:pt x="55" y="35"/>
                    <a:pt x="55" y="35"/>
                  </a:cubicBezTo>
                  <a:cubicBezTo>
                    <a:pt x="55" y="37"/>
                    <a:pt x="54" y="37"/>
                    <a:pt x="53" y="35"/>
                  </a:cubicBezTo>
                  <a:cubicBezTo>
                    <a:pt x="50" y="29"/>
                    <a:pt x="46" y="16"/>
                    <a:pt x="44" y="6"/>
                  </a:cubicBezTo>
                  <a:cubicBezTo>
                    <a:pt x="35" y="4"/>
                    <a:pt x="32" y="0"/>
                    <a:pt x="32" y="0"/>
                  </a:cubicBezTo>
                  <a:cubicBezTo>
                    <a:pt x="21" y="2"/>
                    <a:pt x="10" y="8"/>
                    <a:pt x="6" y="14"/>
                  </a:cubicBezTo>
                  <a:cubicBezTo>
                    <a:pt x="1" y="23"/>
                    <a:pt x="0" y="35"/>
                    <a:pt x="0" y="35"/>
                  </a:cubicBezTo>
                  <a:cubicBezTo>
                    <a:pt x="0" y="39"/>
                    <a:pt x="27" y="51"/>
                    <a:pt x="60" y="51"/>
                  </a:cubicBezTo>
                  <a:cubicBezTo>
                    <a:pt x="94" y="51"/>
                    <a:pt x="121" y="39"/>
                    <a:pt x="121" y="35"/>
                  </a:cubicBezTo>
                  <a:cubicBezTo>
                    <a:pt x="121" y="35"/>
                    <a:pt x="120" y="23"/>
                    <a:pt x="115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dirty="0"/>
            </a:p>
          </p:txBody>
        </p: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3C068959-4578-4480-887A-A8EB8562869E}"/>
              </a:ext>
            </a:extLst>
          </p:cNvPr>
          <p:cNvGrpSpPr/>
          <p:nvPr/>
        </p:nvGrpSpPr>
        <p:grpSpPr>
          <a:xfrm>
            <a:off x="685800" y="1634736"/>
            <a:ext cx="4171952" cy="629064"/>
            <a:chOff x="685800" y="1438918"/>
            <a:chExt cx="4171952" cy="629064"/>
          </a:xfrm>
        </p:grpSpPr>
        <p:sp>
          <p:nvSpPr>
            <p:cNvPr id="29" name="TextBox 28"/>
            <p:cNvSpPr txBox="1"/>
            <p:nvPr/>
          </p:nvSpPr>
          <p:spPr>
            <a:xfrm>
              <a:off x="756447" y="1438918"/>
              <a:ext cx="3814762" cy="261612"/>
            </a:xfrm>
            <a:prstGeom prst="rect">
              <a:avLst/>
            </a:prstGeom>
            <a:noFill/>
          </p:spPr>
          <p:txBody>
            <a:bodyPr wrap="square" lIns="91442" tIns="45721" rIns="91442" bIns="45721">
              <a:spAutoFit/>
            </a:bodyPr>
            <a:lstStyle/>
            <a:p>
              <a:pPr>
                <a:defRPr/>
              </a:pPr>
              <a:r>
                <a:rPr lang="zh-TW" altLang="en-US" sz="1100" dirty="0">
                  <a:solidFill>
                    <a:schemeClr val="bg1">
                      <a:lumMod val="65000"/>
                    </a:schemeClr>
                  </a:solidFill>
                </a:rPr>
                <a:t>使用</a:t>
              </a:r>
              <a:r>
                <a:rPr lang="en-US" altLang="zh-TW" sz="1100" dirty="0" err="1">
                  <a:solidFill>
                    <a:schemeClr val="bg1">
                      <a:lumMod val="65000"/>
                    </a:schemeClr>
                  </a:solidFill>
                </a:rPr>
                <a:t>Keras</a:t>
              </a:r>
              <a:r>
                <a:rPr lang="zh-TW" altLang="en-US" sz="1100" dirty="0">
                  <a:solidFill>
                    <a:schemeClr val="bg1">
                      <a:lumMod val="65000"/>
                    </a:schemeClr>
                  </a:solidFill>
                </a:rPr>
                <a:t>基於</a:t>
              </a:r>
              <a:r>
                <a:rPr lang="en-US" altLang="zh-TW" sz="1100" dirty="0">
                  <a:solidFill>
                    <a:schemeClr val="bg1">
                      <a:lumMod val="65000"/>
                    </a:schemeClr>
                  </a:solidFill>
                </a:rPr>
                <a:t>TensorFlow</a:t>
              </a:r>
              <a:r>
                <a:rPr lang="zh-TW" altLang="en-US" sz="1100" dirty="0">
                  <a:solidFill>
                    <a:schemeClr val="bg1">
                      <a:lumMod val="65000"/>
                    </a:schemeClr>
                  </a:solidFill>
                </a:rPr>
                <a:t>和</a:t>
              </a:r>
              <a:r>
                <a:rPr lang="en-US" altLang="zh-TW" sz="1100" dirty="0">
                  <a:solidFill>
                    <a:schemeClr val="bg1">
                      <a:lumMod val="65000"/>
                    </a:schemeClr>
                  </a:solidFill>
                </a:rPr>
                <a:t>Python3.6</a:t>
              </a:r>
              <a:r>
                <a:rPr lang="zh-TW" altLang="en-US" sz="1100" dirty="0">
                  <a:solidFill>
                    <a:schemeClr val="bg1">
                      <a:lumMod val="65000"/>
                    </a:schemeClr>
                  </a:solidFill>
                </a:rPr>
                <a:t>識別高鐵驗證碼</a:t>
              </a:r>
              <a:endParaRPr lang="en-US" sz="11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52474" y="1647269"/>
              <a:ext cx="4105278" cy="261612"/>
            </a:xfrm>
            <a:prstGeom prst="rect">
              <a:avLst/>
            </a:prstGeom>
          </p:spPr>
          <p:txBody>
            <a:bodyPr wrap="square" lIns="91442" tIns="45721" rIns="91442" bIns="45721">
              <a:spAutoFit/>
            </a:bodyPr>
            <a:lstStyle/>
            <a:p>
              <a:pPr>
                <a:defRPr/>
              </a:pPr>
              <a:r>
                <a:rPr lang="en-US" altLang="zh-TW" sz="1100" dirty="0">
                  <a:hlinkClick r:id="rId3"/>
                </a:rPr>
                <a:t>https://github.com/gary9987/Keras-TaiwanHighSpeedRail-captcha</a:t>
              </a:r>
              <a:endParaRPr lang="en-US" sz="11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85800" y="1438918"/>
              <a:ext cx="66674" cy="6290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2" tIns="45721" rIns="91442" bIns="45721" anchor="ctr"/>
            <a:lstStyle/>
            <a:p>
              <a:pPr algn="ctr"/>
              <a:endParaRPr lang="zh-CN" altLang="zh-CN" dirty="0">
                <a:solidFill>
                  <a:srgbClr val="FFFFFF"/>
                </a:solidFill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0DBC0556-E37D-40B1-A586-C619915383D0}"/>
              </a:ext>
            </a:extLst>
          </p:cNvPr>
          <p:cNvGrpSpPr/>
          <p:nvPr/>
        </p:nvGrpSpPr>
        <p:grpSpPr>
          <a:xfrm>
            <a:off x="1097380" y="2733513"/>
            <a:ext cx="6143208" cy="755142"/>
            <a:chOff x="1154113" y="2222250"/>
            <a:chExt cx="6143208" cy="755142"/>
          </a:xfrm>
        </p:grpSpPr>
        <p:sp>
          <p:nvSpPr>
            <p:cNvPr id="34" name="TextBox 33"/>
            <p:cNvSpPr txBox="1"/>
            <p:nvPr/>
          </p:nvSpPr>
          <p:spPr>
            <a:xfrm>
              <a:off x="1198559" y="2222250"/>
              <a:ext cx="2686053" cy="461667"/>
            </a:xfrm>
            <a:prstGeom prst="rect">
              <a:avLst/>
            </a:prstGeom>
            <a:noFill/>
          </p:spPr>
          <p:txBody>
            <a:bodyPr wrap="square" lIns="91442" tIns="45721" rIns="91442" bIns="45721">
              <a:spAutoFit/>
            </a:bodyPr>
            <a:lstStyle/>
            <a:p>
              <a:pPr>
                <a:defRPr/>
              </a:pPr>
              <a:r>
                <a:rPr lang="zh-TW" altLang="en-US" sz="1200" dirty="0">
                  <a:solidFill>
                    <a:schemeClr val="accent3"/>
                  </a:solidFill>
                  <a:latin typeface="+mj-lt"/>
                </a:rPr>
                <a:t>實作基於</a:t>
              </a:r>
              <a:r>
                <a:rPr lang="en-US" altLang="zh-TW" sz="1200" dirty="0">
                  <a:solidFill>
                    <a:schemeClr val="accent3"/>
                  </a:solidFill>
                  <a:latin typeface="+mj-lt"/>
                </a:rPr>
                <a:t>CNN</a:t>
              </a:r>
              <a:r>
                <a:rPr lang="zh-TW" altLang="en-US" sz="1200" dirty="0">
                  <a:solidFill>
                    <a:schemeClr val="accent3"/>
                  </a:solidFill>
                  <a:latin typeface="+mj-lt"/>
                </a:rPr>
                <a:t>的台鐵訂票驗證碼辨識透過模仿及資料增強的訓練集產生器</a:t>
              </a:r>
              <a:endParaRPr lang="en-US" sz="1200" dirty="0">
                <a:solidFill>
                  <a:schemeClr val="accent3"/>
                </a:solidFill>
                <a:latin typeface="+mj-lt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154113" y="2277229"/>
              <a:ext cx="45719" cy="7001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2" tIns="45721" rIns="91442" bIns="45721" anchor="ctr"/>
            <a:lstStyle/>
            <a:p>
              <a:pPr algn="ctr"/>
              <a:endParaRPr lang="zh-CN" altLang="zh-CN" dirty="0">
                <a:solidFill>
                  <a:srgbClr val="FFFFFF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198559" y="2600657"/>
              <a:ext cx="6098762" cy="246223"/>
            </a:xfrm>
            <a:prstGeom prst="rect">
              <a:avLst/>
            </a:prstGeom>
            <a:noFill/>
          </p:spPr>
          <p:txBody>
            <a:bodyPr wrap="square" lIns="91442" tIns="45721" rIns="91442" bIns="45721">
              <a:spAutoFit/>
            </a:bodyPr>
            <a:lstStyle/>
            <a:p>
              <a:pPr>
                <a:defRPr/>
              </a:pPr>
              <a:r>
                <a:rPr lang="en-US" altLang="zh-TW" sz="1000" dirty="0">
                  <a:hlinkClick r:id="rId4"/>
                </a:rPr>
                <a:t>https://github.com/JasonLiTW/simple-railway-captcha-solver</a:t>
              </a:r>
              <a:endParaRPr lang="en-US" sz="1000" dirty="0">
                <a:solidFill>
                  <a:schemeClr val="accent2"/>
                </a:solidFill>
                <a:latin typeface="+mj-lt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B111C027-8FC3-4ECF-9969-C3DD3D846608}"/>
              </a:ext>
            </a:extLst>
          </p:cNvPr>
          <p:cNvGrpSpPr/>
          <p:nvPr/>
        </p:nvGrpSpPr>
        <p:grpSpPr>
          <a:xfrm>
            <a:off x="1643911" y="3925860"/>
            <a:ext cx="3808304" cy="679378"/>
            <a:chOff x="1763688" y="3937740"/>
            <a:chExt cx="3808304" cy="679378"/>
          </a:xfrm>
        </p:grpSpPr>
        <p:sp>
          <p:nvSpPr>
            <p:cNvPr id="35" name="Rectangle 34"/>
            <p:cNvSpPr/>
            <p:nvPr/>
          </p:nvSpPr>
          <p:spPr>
            <a:xfrm>
              <a:off x="1806393" y="3937740"/>
              <a:ext cx="2648017" cy="261612"/>
            </a:xfrm>
            <a:prstGeom prst="rect">
              <a:avLst/>
            </a:prstGeom>
          </p:spPr>
          <p:txBody>
            <a:bodyPr wrap="square" lIns="91442" tIns="45721" rIns="91442" bIns="45721">
              <a:spAutoFit/>
            </a:bodyPr>
            <a:lstStyle/>
            <a:p>
              <a:pPr>
                <a:defRPr/>
              </a:pPr>
              <a:r>
                <a:rPr lang="zh-TW" altLang="en-US" sz="1100" dirty="0">
                  <a:solidFill>
                    <a:schemeClr val="bg1">
                      <a:lumMod val="65000"/>
                    </a:schemeClr>
                  </a:solidFill>
                </a:rPr>
                <a:t>人工智慧於高鐵訂票系統之識別碼應用 </a:t>
              </a:r>
              <a:endParaRPr lang="en-US" sz="11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806393" y="4199352"/>
              <a:ext cx="3765599" cy="261612"/>
            </a:xfrm>
            <a:prstGeom prst="rect">
              <a:avLst/>
            </a:prstGeom>
          </p:spPr>
          <p:txBody>
            <a:bodyPr wrap="square" lIns="91442" tIns="45721" rIns="91442" bIns="45721">
              <a:spAutoFit/>
            </a:bodyPr>
            <a:lstStyle/>
            <a:p>
              <a:pPr>
                <a:defRPr/>
              </a:pPr>
              <a:r>
                <a:rPr lang="en-US" altLang="zh-TW" sz="1100" dirty="0">
                  <a:hlinkClick r:id="rId5"/>
                </a:rPr>
                <a:t>http://www.tcivs.tc.edu.tw/resource/openfid.php?id=34528</a:t>
              </a:r>
              <a:endParaRPr lang="en-US" sz="11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763688" y="3947458"/>
              <a:ext cx="53975" cy="6696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2" tIns="45721" rIns="91442" bIns="45721" anchor="ctr"/>
            <a:lstStyle/>
            <a:p>
              <a:pPr algn="ctr"/>
              <a:endParaRPr lang="zh-CN" altLang="zh-CN" dirty="0">
                <a:solidFill>
                  <a:srgbClr val="FFFFFF"/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文本框 37"/>
          <p:cNvSpPr txBox="1"/>
          <p:nvPr/>
        </p:nvSpPr>
        <p:spPr>
          <a:xfrm>
            <a:off x="473925" y="351812"/>
            <a:ext cx="1836172" cy="315475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lvl="0" algn="dist"/>
            <a:r>
              <a:rPr lang="en-US" altLang="zh-TW" sz="1600" b="0" kern="12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Reference</a:t>
            </a:r>
            <a:endParaRPr lang="zh-CN" altLang="zh-CN" sz="1600" b="0" kern="12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BFA7F57-E068-44C8-9149-BCF014389963}"/>
              </a:ext>
            </a:extLst>
          </p:cNvPr>
          <p:cNvSpPr txBox="1"/>
          <p:nvPr/>
        </p:nvSpPr>
        <p:spPr>
          <a:xfrm>
            <a:off x="757708" y="2048356"/>
            <a:ext cx="27723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chemeClr val="bg1">
                    <a:lumMod val="65000"/>
                  </a:schemeClr>
                </a:solidFill>
              </a:rPr>
              <a:t>圖片處理、爬蟲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5316A953-11C3-4AA9-B6FC-33C58A559753}"/>
              </a:ext>
            </a:extLst>
          </p:cNvPr>
          <p:cNvSpPr txBox="1"/>
          <p:nvPr/>
        </p:nvSpPr>
        <p:spPr>
          <a:xfrm>
            <a:off x="1692245" y="4411936"/>
            <a:ext cx="27723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chemeClr val="bg1">
                    <a:lumMod val="65000"/>
                  </a:schemeClr>
                </a:solidFill>
              </a:rPr>
              <a:t>多進程</a:t>
            </a:r>
          </a:p>
        </p:txBody>
      </p:sp>
      <p:sp>
        <p:nvSpPr>
          <p:cNvPr id="41" name="TextBox 33">
            <a:extLst>
              <a:ext uri="{FF2B5EF4-FFF2-40B4-BE49-F238E27FC236}">
                <a16:creationId xmlns:a16="http://schemas.microsoft.com/office/drawing/2014/main" id="{7012EA22-3FAC-4E4F-B444-B8BEBB5775CE}"/>
              </a:ext>
            </a:extLst>
          </p:cNvPr>
          <p:cNvSpPr txBox="1"/>
          <p:nvPr/>
        </p:nvSpPr>
        <p:spPr>
          <a:xfrm>
            <a:off x="1147348" y="3315676"/>
            <a:ext cx="2686053" cy="215446"/>
          </a:xfrm>
          <a:prstGeom prst="rect">
            <a:avLst/>
          </a:prstGeom>
          <a:noFill/>
        </p:spPr>
        <p:txBody>
          <a:bodyPr wrap="square" lIns="91442" tIns="45721" rIns="91442" bIns="45721">
            <a:spAutoFit/>
          </a:bodyPr>
          <a:lstStyle/>
          <a:p>
            <a:pPr>
              <a:defRPr/>
            </a:pPr>
            <a:r>
              <a:rPr lang="zh-TW" altLang="en-US" sz="800" dirty="0">
                <a:solidFill>
                  <a:schemeClr val="accent3"/>
                </a:solidFill>
                <a:latin typeface="+mj-lt"/>
              </a:rPr>
              <a:t>模型搭建</a:t>
            </a:r>
            <a:endParaRPr lang="en-US" sz="800" dirty="0">
              <a:solidFill>
                <a:schemeClr val="accent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666379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0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80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C011E069-B19F-4AE5-BC71-93ACC8A611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5088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15C8AB24-C361-438C-8C21-B28815BE0A25}"/>
              </a:ext>
            </a:extLst>
          </p:cNvPr>
          <p:cNvSpPr/>
          <p:nvPr/>
        </p:nvSpPr>
        <p:spPr>
          <a:xfrm>
            <a:off x="323528" y="268288"/>
            <a:ext cx="8568952" cy="4644516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2921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4FEEDF-5FEB-4B8E-AB61-20A4C939EA6D}"/>
              </a:ext>
            </a:extLst>
          </p:cNvPr>
          <p:cNvSpPr/>
          <p:nvPr/>
        </p:nvSpPr>
        <p:spPr>
          <a:xfrm>
            <a:off x="0" y="2356520"/>
            <a:ext cx="1835696" cy="4680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368E8EF-7A89-46D5-A7DB-45AD9EF86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8233" y="340296"/>
            <a:ext cx="6747693" cy="4536504"/>
          </a:xfrm>
          <a:prstGeom prst="rect">
            <a:avLst/>
          </a:prstGeom>
        </p:spPr>
      </p:pic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323528" y="2362907"/>
            <a:ext cx="133214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前處理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ACF495-F3BB-4EEF-AD73-751127A40D00}"/>
              </a:ext>
            </a:extLst>
          </p:cNvPr>
          <p:cNvSpPr/>
          <p:nvPr/>
        </p:nvSpPr>
        <p:spPr>
          <a:xfrm>
            <a:off x="5006106" y="1276400"/>
            <a:ext cx="3528392" cy="27003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2A0691D-E161-420E-A26F-4669C8D351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080" y="1560153"/>
            <a:ext cx="3033899" cy="213279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B045231-0F1D-461A-87AD-7B1EBA06E09F}"/>
              </a:ext>
            </a:extLst>
          </p:cNvPr>
          <p:cNvSpPr/>
          <p:nvPr/>
        </p:nvSpPr>
        <p:spPr>
          <a:xfrm>
            <a:off x="5577339" y="2158498"/>
            <a:ext cx="2748639" cy="8280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D199A675-6D6E-4EAF-AE20-062EFC1ED2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2186" y="1831570"/>
            <a:ext cx="2362189" cy="1366555"/>
          </a:xfrm>
          <a:prstGeom prst="rect">
            <a:avLst/>
          </a:prstGeom>
        </p:spPr>
      </p:pic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A3CE8666-D203-407C-A6FF-E337796D521D}"/>
              </a:ext>
            </a:extLst>
          </p:cNvPr>
          <p:cNvCxnSpPr>
            <a:cxnSpLocks/>
          </p:cNvCxnSpPr>
          <p:nvPr/>
        </p:nvCxnSpPr>
        <p:spPr>
          <a:xfrm flipH="1" flipV="1">
            <a:off x="4755934" y="1806811"/>
            <a:ext cx="800561" cy="32692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DCFD22E9-26AD-463C-858A-CD2F128B8EAA}"/>
              </a:ext>
            </a:extLst>
          </p:cNvPr>
          <p:cNvCxnSpPr>
            <a:cxnSpLocks/>
          </p:cNvCxnSpPr>
          <p:nvPr/>
        </p:nvCxnSpPr>
        <p:spPr>
          <a:xfrm flipH="1">
            <a:off x="4786035" y="3013960"/>
            <a:ext cx="760428" cy="2070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圖片 18">
            <a:extLst>
              <a:ext uri="{FF2B5EF4-FFF2-40B4-BE49-F238E27FC236}">
                <a16:creationId xmlns:a16="http://schemas.microsoft.com/office/drawing/2014/main" id="{F2363E92-AEB4-4A39-9212-C57C038FCF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5941" y="3601025"/>
            <a:ext cx="1070037" cy="36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2596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0" grpId="0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C011E069-B19F-4AE5-BC71-93ACC8A611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5088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15C8AB24-C361-438C-8C21-B28815BE0A25}"/>
              </a:ext>
            </a:extLst>
          </p:cNvPr>
          <p:cNvSpPr/>
          <p:nvPr/>
        </p:nvSpPr>
        <p:spPr>
          <a:xfrm>
            <a:off x="323528" y="268288"/>
            <a:ext cx="8568952" cy="4644516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2921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ea typeface="微软雅黑" panose="020B0503020204020204" pitchFamily="34" charset="-122"/>
              </a:rPr>
              <a:t>+</a:t>
            </a: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4FEEDF-5FEB-4B8E-AB61-20A4C939EA6D}"/>
              </a:ext>
            </a:extLst>
          </p:cNvPr>
          <p:cNvSpPr/>
          <p:nvPr/>
        </p:nvSpPr>
        <p:spPr>
          <a:xfrm>
            <a:off x="0" y="2356520"/>
            <a:ext cx="1835696" cy="4680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323528" y="2362907"/>
            <a:ext cx="133214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前處理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46008FE-B4B7-4250-9F6A-EC233D03C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271" y="1315051"/>
            <a:ext cx="1897652" cy="74121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E44404F-26EF-41AC-B666-0AD72C44A9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8908" y="2130826"/>
            <a:ext cx="1871238" cy="750444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ADD9CFC-D23B-4023-BA49-B6D20DB230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6096" y="2968588"/>
            <a:ext cx="1834050" cy="74153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2C8C22E0-1109-48C3-AB02-6DABF1D5EF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3832" y="1310437"/>
            <a:ext cx="1782304" cy="750444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5CAB447A-DAB0-45AC-AAAC-1EB497D018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5677" y="2128512"/>
            <a:ext cx="1766866" cy="755071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A866B4D7-4ED9-416F-866F-3A43C70D9B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29001" y="2971374"/>
            <a:ext cx="1763542" cy="750444"/>
          </a:xfrm>
          <a:prstGeom prst="rect">
            <a:avLst/>
          </a:prstGeom>
        </p:spPr>
      </p:pic>
      <p:sp>
        <p:nvSpPr>
          <p:cNvPr id="25" name="文本框 7">
            <a:extLst>
              <a:ext uri="{FF2B5EF4-FFF2-40B4-BE49-F238E27FC236}">
                <a16:creationId xmlns:a16="http://schemas.microsoft.com/office/drawing/2014/main" id="{6A884D30-A38E-4037-ADE5-FD5C83529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391" y="1053183"/>
            <a:ext cx="136815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TW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第一次處理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26" name="文本框 7">
            <a:extLst>
              <a:ext uri="{FF2B5EF4-FFF2-40B4-BE49-F238E27FC236}">
                <a16:creationId xmlns:a16="http://schemas.microsoft.com/office/drawing/2014/main" id="{A27D77DD-17CF-4383-B4F8-2964E9EF4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1994" y="1066310"/>
            <a:ext cx="136815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TW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第二次處理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30883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0" grpId="0"/>
      <p:bldP spid="25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C011E069-B19F-4AE5-BC71-93ACC8A611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5088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15C8AB24-C361-438C-8C21-B28815BE0A25}"/>
              </a:ext>
            </a:extLst>
          </p:cNvPr>
          <p:cNvSpPr/>
          <p:nvPr/>
        </p:nvSpPr>
        <p:spPr>
          <a:xfrm>
            <a:off x="323528" y="268288"/>
            <a:ext cx="8568952" cy="4644516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2921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ea typeface="微软雅黑" panose="020B0503020204020204" pitchFamily="34" charset="-122"/>
              </a:rPr>
              <a:t>+</a:t>
            </a: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4FEEDF-5FEB-4B8E-AB61-20A4C939EA6D}"/>
              </a:ext>
            </a:extLst>
          </p:cNvPr>
          <p:cNvSpPr/>
          <p:nvPr/>
        </p:nvSpPr>
        <p:spPr>
          <a:xfrm>
            <a:off x="0" y="2356520"/>
            <a:ext cx="1835696" cy="4680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323528" y="2362907"/>
            <a:ext cx="133214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前處理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400F694-BD41-41E8-8683-885DBF99C439}"/>
              </a:ext>
            </a:extLst>
          </p:cNvPr>
          <p:cNvSpPr/>
          <p:nvPr/>
        </p:nvSpPr>
        <p:spPr>
          <a:xfrm>
            <a:off x="1979204" y="900524"/>
            <a:ext cx="6841268" cy="34949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7023465-12F8-4A98-AFCA-85E157B2C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367" y="1007018"/>
            <a:ext cx="1162050" cy="2181225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B08AE906-00CB-4245-9C78-E0860F0169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6985" y="1007018"/>
            <a:ext cx="6029641" cy="328199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1A6AE95E-40CA-4A96-938D-5396B6DF9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5455" y="2146269"/>
            <a:ext cx="1162050" cy="2142740"/>
          </a:xfrm>
          <a:prstGeom prst="rect">
            <a:avLst/>
          </a:prstGeom>
        </p:spPr>
      </p:pic>
      <p:sp>
        <p:nvSpPr>
          <p:cNvPr id="25" name="文本框 7">
            <a:extLst>
              <a:ext uri="{FF2B5EF4-FFF2-40B4-BE49-F238E27FC236}">
                <a16:creationId xmlns:a16="http://schemas.microsoft.com/office/drawing/2014/main" id="{6A884D30-A38E-4037-ADE5-FD5C83529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6267" y="1020894"/>
            <a:ext cx="1674649" cy="30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TW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更改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label</a:t>
            </a:r>
            <a:r>
              <a:rPr lang="zh-TW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放置順序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861E897-F966-4C75-B73B-F5920E5ADE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1520" y="1243680"/>
            <a:ext cx="1724220" cy="64693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A2B63BD-1CDF-49CF-8577-09B57C5249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7470" y="2460962"/>
            <a:ext cx="1430743" cy="1804124"/>
          </a:xfrm>
          <a:prstGeom prst="rect">
            <a:avLst/>
          </a:prstGeom>
        </p:spPr>
      </p:pic>
      <p:sp>
        <p:nvSpPr>
          <p:cNvPr id="26" name="文本框 7">
            <a:extLst>
              <a:ext uri="{FF2B5EF4-FFF2-40B4-BE49-F238E27FC236}">
                <a16:creationId xmlns:a16="http://schemas.microsoft.com/office/drawing/2014/main" id="{A27D77DD-17CF-4383-B4F8-2964E9EF4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8439" y="3103288"/>
            <a:ext cx="205222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rPr>
              <a:t>[[2,H,N],[Z,9,2],[H,Y,Z],[A,F,K]]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09226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0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C011E069-B19F-4AE5-BC71-93ACC8A611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5088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15C8AB24-C361-438C-8C21-B28815BE0A25}"/>
              </a:ext>
            </a:extLst>
          </p:cNvPr>
          <p:cNvSpPr/>
          <p:nvPr/>
        </p:nvSpPr>
        <p:spPr>
          <a:xfrm>
            <a:off x="323528" y="268288"/>
            <a:ext cx="8568952" cy="4644516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2921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4FEEDF-5FEB-4B8E-AB61-20A4C939EA6D}"/>
              </a:ext>
            </a:extLst>
          </p:cNvPr>
          <p:cNvSpPr/>
          <p:nvPr/>
        </p:nvSpPr>
        <p:spPr>
          <a:xfrm>
            <a:off x="0" y="2356520"/>
            <a:ext cx="1835696" cy="4680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323528" y="2362907"/>
            <a:ext cx="133214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TW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2FC4ECFD-9BFD-4933-B541-A3C85BE3CC91}"/>
              </a:ext>
            </a:extLst>
          </p:cNvPr>
          <p:cNvGrpSpPr/>
          <p:nvPr/>
        </p:nvGrpSpPr>
        <p:grpSpPr>
          <a:xfrm>
            <a:off x="2060987" y="673683"/>
            <a:ext cx="4016440" cy="3909182"/>
            <a:chOff x="1851704" y="643582"/>
            <a:chExt cx="4016440" cy="3909182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8B09170C-4F0E-40DB-AB67-0CC29E72254E}"/>
                </a:ext>
              </a:extLst>
            </p:cNvPr>
            <p:cNvSpPr/>
            <p:nvPr/>
          </p:nvSpPr>
          <p:spPr>
            <a:xfrm>
              <a:off x="1851704" y="643582"/>
              <a:ext cx="4016440" cy="390918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068E4AB5-C36B-473D-8086-DA97ECC54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82707" y="678547"/>
              <a:ext cx="3943897" cy="3821920"/>
            </a:xfrm>
            <a:prstGeom prst="rect">
              <a:avLst/>
            </a:prstGeom>
          </p:spPr>
        </p:pic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F598CB85-D6AE-402A-9F60-C0E8CB5D1E18}"/>
              </a:ext>
            </a:extLst>
          </p:cNvPr>
          <p:cNvGrpSpPr/>
          <p:nvPr/>
        </p:nvGrpSpPr>
        <p:grpSpPr>
          <a:xfrm>
            <a:off x="6192180" y="1737915"/>
            <a:ext cx="2376264" cy="1800200"/>
            <a:chOff x="6136128" y="1737915"/>
            <a:chExt cx="2376264" cy="180020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71565AF-32FC-4E6A-9674-A42A3E816A0F}"/>
                </a:ext>
              </a:extLst>
            </p:cNvPr>
            <p:cNvSpPr/>
            <p:nvPr/>
          </p:nvSpPr>
          <p:spPr>
            <a:xfrm>
              <a:off x="6136128" y="1737915"/>
              <a:ext cx="2376264" cy="1800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A6AE4AC2-1B38-40B7-81AD-39AFC88687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83139" y="1780456"/>
              <a:ext cx="2284399" cy="16956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163302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C011E069-B19F-4AE5-BC71-93ACC8A611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5088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15C8AB24-C361-438C-8C21-B28815BE0A25}"/>
              </a:ext>
            </a:extLst>
          </p:cNvPr>
          <p:cNvSpPr/>
          <p:nvPr/>
        </p:nvSpPr>
        <p:spPr>
          <a:xfrm>
            <a:off x="323528" y="268288"/>
            <a:ext cx="8568952" cy="4644516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2921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4FEEDF-5FEB-4B8E-AB61-20A4C939EA6D}"/>
              </a:ext>
            </a:extLst>
          </p:cNvPr>
          <p:cNvSpPr/>
          <p:nvPr/>
        </p:nvSpPr>
        <p:spPr>
          <a:xfrm>
            <a:off x="0" y="2356520"/>
            <a:ext cx="1835696" cy="4680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323528" y="2362907"/>
            <a:ext cx="133214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TW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B09170C-4F0E-40DB-AB67-0CC29E72254E}"/>
              </a:ext>
            </a:extLst>
          </p:cNvPr>
          <p:cNvSpPr/>
          <p:nvPr/>
        </p:nvSpPr>
        <p:spPr>
          <a:xfrm>
            <a:off x="2085049" y="232284"/>
            <a:ext cx="3423055" cy="47885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1565AF-32FC-4E6A-9674-A42A3E816A0F}"/>
              </a:ext>
            </a:extLst>
          </p:cNvPr>
          <p:cNvSpPr/>
          <p:nvPr/>
        </p:nvSpPr>
        <p:spPr>
          <a:xfrm>
            <a:off x="5937477" y="1672443"/>
            <a:ext cx="2542332" cy="18002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4D0BED0-39C7-4B5D-97E7-FF3469AB8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13" y="1707774"/>
            <a:ext cx="2485827" cy="172954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ADB1FAB-1F98-4AF3-A029-58425275DF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8941" y="251451"/>
            <a:ext cx="3347882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5011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C011E069-B19F-4AE5-BC71-93ACC8A611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5088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15C8AB24-C361-438C-8C21-B28815BE0A25}"/>
              </a:ext>
            </a:extLst>
          </p:cNvPr>
          <p:cNvSpPr/>
          <p:nvPr/>
        </p:nvSpPr>
        <p:spPr>
          <a:xfrm>
            <a:off x="323528" y="268288"/>
            <a:ext cx="8568952" cy="4644516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2921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4FEEDF-5FEB-4B8E-AB61-20A4C939EA6D}"/>
              </a:ext>
            </a:extLst>
          </p:cNvPr>
          <p:cNvSpPr/>
          <p:nvPr/>
        </p:nvSpPr>
        <p:spPr>
          <a:xfrm>
            <a:off x="0" y="2356520"/>
            <a:ext cx="1835696" cy="4680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323528" y="2362907"/>
            <a:ext cx="133214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TW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B09170C-4F0E-40DB-AB67-0CC29E72254E}"/>
              </a:ext>
            </a:extLst>
          </p:cNvPr>
          <p:cNvSpPr/>
          <p:nvPr/>
        </p:nvSpPr>
        <p:spPr>
          <a:xfrm>
            <a:off x="1810161" y="1070248"/>
            <a:ext cx="3985442" cy="3135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33B99F3-C00F-4551-9D8E-DF8D38B69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6403" y="1204392"/>
            <a:ext cx="3759147" cy="2870448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F71565AF-32FC-4E6A-9674-A42A3E816A0F}"/>
              </a:ext>
            </a:extLst>
          </p:cNvPr>
          <p:cNvSpPr/>
          <p:nvPr/>
        </p:nvSpPr>
        <p:spPr>
          <a:xfrm>
            <a:off x="5906196" y="360041"/>
            <a:ext cx="2661400" cy="44447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243D512-CFF3-43D2-B7FB-05C22786A4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4388" y="483835"/>
            <a:ext cx="2505015" cy="417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9692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C011E069-B19F-4AE5-BC71-93ACC8A611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5088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15C8AB24-C361-438C-8C21-B28815BE0A25}"/>
              </a:ext>
            </a:extLst>
          </p:cNvPr>
          <p:cNvSpPr/>
          <p:nvPr/>
        </p:nvSpPr>
        <p:spPr>
          <a:xfrm>
            <a:off x="323528" y="250286"/>
            <a:ext cx="8568952" cy="4644516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2921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4FEEDF-5FEB-4B8E-AB61-20A4C939EA6D}"/>
              </a:ext>
            </a:extLst>
          </p:cNvPr>
          <p:cNvSpPr/>
          <p:nvPr/>
        </p:nvSpPr>
        <p:spPr>
          <a:xfrm>
            <a:off x="0" y="2356520"/>
            <a:ext cx="1835696" cy="4680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323528" y="2362907"/>
            <a:ext cx="133214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TW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A2AFEA1-A23C-4CB4-B312-C8732EEB90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571" y="3501320"/>
            <a:ext cx="1958306" cy="137425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45D9EA03-5ECB-4171-BF27-91525F1A87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3617" y="2173939"/>
            <a:ext cx="516705" cy="148361"/>
          </a:xfrm>
          <a:prstGeom prst="rect">
            <a:avLst/>
          </a:prstGeom>
        </p:spPr>
      </p:pic>
      <p:sp>
        <p:nvSpPr>
          <p:cNvPr id="19" name="燕尾形 18">
            <a:extLst>
              <a:ext uri="{FF2B5EF4-FFF2-40B4-BE49-F238E27FC236}">
                <a16:creationId xmlns:a16="http://schemas.microsoft.com/office/drawing/2014/main" id="{10B58966-79B1-4DA0-8286-FE7D291694FA}"/>
              </a:ext>
            </a:extLst>
          </p:cNvPr>
          <p:cNvSpPr/>
          <p:nvPr/>
        </p:nvSpPr>
        <p:spPr>
          <a:xfrm>
            <a:off x="1835696" y="512004"/>
            <a:ext cx="1144352" cy="209232"/>
          </a:xfrm>
          <a:prstGeom prst="chevron">
            <a:avLst>
              <a:gd name="adj" fmla="val 67746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model1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燕尾形 18">
            <a:extLst>
              <a:ext uri="{FF2B5EF4-FFF2-40B4-BE49-F238E27FC236}">
                <a16:creationId xmlns:a16="http://schemas.microsoft.com/office/drawing/2014/main" id="{40A2F8A8-442F-42F3-AB7C-A7958E5C726B}"/>
              </a:ext>
            </a:extLst>
          </p:cNvPr>
          <p:cNvSpPr/>
          <p:nvPr/>
        </p:nvSpPr>
        <p:spPr>
          <a:xfrm>
            <a:off x="1835696" y="1434262"/>
            <a:ext cx="1144352" cy="209232"/>
          </a:xfrm>
          <a:prstGeom prst="chevron">
            <a:avLst>
              <a:gd name="adj" fmla="val 67746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model2</a:t>
            </a:r>
          </a:p>
        </p:txBody>
      </p:sp>
      <p:sp>
        <p:nvSpPr>
          <p:cNvPr id="24" name="燕尾形 18">
            <a:extLst>
              <a:ext uri="{FF2B5EF4-FFF2-40B4-BE49-F238E27FC236}">
                <a16:creationId xmlns:a16="http://schemas.microsoft.com/office/drawing/2014/main" id="{8241D59D-56EE-4F28-B481-99602072C9FD}"/>
              </a:ext>
            </a:extLst>
          </p:cNvPr>
          <p:cNvSpPr/>
          <p:nvPr/>
        </p:nvSpPr>
        <p:spPr>
          <a:xfrm>
            <a:off x="1849760" y="2376419"/>
            <a:ext cx="1144352" cy="209232"/>
          </a:xfrm>
          <a:prstGeom prst="chevron">
            <a:avLst>
              <a:gd name="adj" fmla="val 67746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model3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392FC73D-9D0C-4C05-9E04-00D5A2D4D296}"/>
              </a:ext>
            </a:extLst>
          </p:cNvPr>
          <p:cNvGrpSpPr/>
          <p:nvPr/>
        </p:nvGrpSpPr>
        <p:grpSpPr>
          <a:xfrm>
            <a:off x="1923600" y="772344"/>
            <a:ext cx="4729760" cy="610278"/>
            <a:chOff x="1923600" y="772344"/>
            <a:chExt cx="4729760" cy="610278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7DA04755-A6D6-4A6F-89BE-D9DFDF353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23600" y="772344"/>
              <a:ext cx="4729760" cy="603486"/>
            </a:xfrm>
            <a:prstGeom prst="rect">
              <a:avLst/>
            </a:prstGeom>
          </p:spPr>
        </p:pic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0AB95AA-A607-4B8E-BE67-63E302A7EEC5}"/>
                </a:ext>
              </a:extLst>
            </p:cNvPr>
            <p:cNvSpPr/>
            <p:nvPr/>
          </p:nvSpPr>
          <p:spPr>
            <a:xfrm>
              <a:off x="4103948" y="916360"/>
              <a:ext cx="324036" cy="108012"/>
            </a:xfrm>
            <a:prstGeom prst="rect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7BDBF975-BB4C-4220-84C5-50BD3A64DFEA}"/>
                </a:ext>
              </a:extLst>
            </p:cNvPr>
            <p:cNvSpPr/>
            <p:nvPr/>
          </p:nvSpPr>
          <p:spPr>
            <a:xfrm>
              <a:off x="4752020" y="1260740"/>
              <a:ext cx="516704" cy="121882"/>
            </a:xfrm>
            <a:prstGeom prst="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6F09DE35-74D9-483C-A00B-279A3FD95EF0}"/>
              </a:ext>
            </a:extLst>
          </p:cNvPr>
          <p:cNvGrpSpPr/>
          <p:nvPr/>
        </p:nvGrpSpPr>
        <p:grpSpPr>
          <a:xfrm>
            <a:off x="1920312" y="1701926"/>
            <a:ext cx="4729760" cy="633612"/>
            <a:chOff x="1920312" y="1701926"/>
            <a:chExt cx="4729760" cy="633612"/>
          </a:xfrm>
        </p:grpSpPr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DE012612-1E81-48F1-A7ED-C71B7871A06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20312" y="1701926"/>
              <a:ext cx="4729760" cy="616061"/>
            </a:xfrm>
            <a:prstGeom prst="rect">
              <a:avLst/>
            </a:prstGeom>
          </p:spPr>
        </p:pic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646290D-E128-4733-85AE-6DFC0F358A00}"/>
                </a:ext>
              </a:extLst>
            </p:cNvPr>
            <p:cNvSpPr/>
            <p:nvPr/>
          </p:nvSpPr>
          <p:spPr>
            <a:xfrm>
              <a:off x="4139952" y="1855953"/>
              <a:ext cx="324036" cy="108012"/>
            </a:xfrm>
            <a:prstGeom prst="rect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3E2A61F8-06F2-4538-9FFC-0CFAAE868A26}"/>
                </a:ext>
              </a:extLst>
            </p:cNvPr>
            <p:cNvSpPr/>
            <p:nvPr/>
          </p:nvSpPr>
          <p:spPr>
            <a:xfrm>
              <a:off x="4842238" y="2187177"/>
              <a:ext cx="548633" cy="148361"/>
            </a:xfrm>
            <a:prstGeom prst="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62712CD6-CF18-4AFD-A7A4-A4B252C8358B}"/>
              </a:ext>
            </a:extLst>
          </p:cNvPr>
          <p:cNvGrpSpPr/>
          <p:nvPr/>
        </p:nvGrpSpPr>
        <p:grpSpPr>
          <a:xfrm>
            <a:off x="1905852" y="2728951"/>
            <a:ext cx="4729760" cy="604740"/>
            <a:chOff x="1905852" y="2728951"/>
            <a:chExt cx="4729760" cy="604740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89683D2B-8CBF-44AE-9494-8A5089DFD83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905852" y="2728951"/>
              <a:ext cx="4729760" cy="604740"/>
            </a:xfrm>
            <a:prstGeom prst="rect">
              <a:avLst/>
            </a:prstGeom>
          </p:spPr>
        </p:pic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727E2913-3E7C-4350-A060-CAC31144234A}"/>
                </a:ext>
              </a:extLst>
            </p:cNvPr>
            <p:cNvSpPr/>
            <p:nvPr/>
          </p:nvSpPr>
          <p:spPr>
            <a:xfrm>
              <a:off x="4108132" y="2896580"/>
              <a:ext cx="355856" cy="108012"/>
            </a:xfrm>
            <a:prstGeom prst="rect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9B7E879-9E87-42FC-9DAC-CB3066FDBA04}"/>
                </a:ext>
              </a:extLst>
            </p:cNvPr>
            <p:cNvSpPr/>
            <p:nvPr/>
          </p:nvSpPr>
          <p:spPr>
            <a:xfrm>
              <a:off x="4788024" y="3211809"/>
              <a:ext cx="516704" cy="121882"/>
            </a:xfrm>
            <a:prstGeom prst="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EB272EDE-46EE-42EF-A9DD-B0D5E71D5A34}"/>
              </a:ext>
            </a:extLst>
          </p:cNvPr>
          <p:cNvSpPr/>
          <p:nvPr/>
        </p:nvSpPr>
        <p:spPr>
          <a:xfrm>
            <a:off x="6444208" y="3538239"/>
            <a:ext cx="2376264" cy="12241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err="1"/>
              <a:t>ModelCheckpoint</a:t>
            </a:r>
            <a:r>
              <a:rPr lang="zh-TW" altLang="en-US" sz="1400" dirty="0"/>
              <a:t>：</a:t>
            </a:r>
            <a:endParaRPr lang="en-US" altLang="zh-TW" sz="1400" dirty="0"/>
          </a:p>
          <a:p>
            <a:pPr algn="ctr"/>
            <a:r>
              <a:rPr lang="zh-TW" altLang="en-US" sz="1100" dirty="0"/>
              <a:t>儲存每個</a:t>
            </a:r>
            <a:r>
              <a:rPr lang="en-US" altLang="zh-TW" sz="1100" dirty="0"/>
              <a:t>epoch</a:t>
            </a:r>
            <a:r>
              <a:rPr lang="zh-TW" altLang="en-US" sz="1100" dirty="0"/>
              <a:t>的權重與模型結構</a:t>
            </a:r>
            <a:endParaRPr lang="en-US" altLang="zh-TW" sz="1100" dirty="0"/>
          </a:p>
          <a:p>
            <a:pPr algn="ctr"/>
            <a:r>
              <a:rPr lang="en-US" altLang="zh-TW" sz="1400" dirty="0" err="1"/>
              <a:t>EarlyStopping</a:t>
            </a:r>
            <a:r>
              <a:rPr lang="zh-TW" altLang="en-US" sz="1400" dirty="0"/>
              <a:t>：</a:t>
            </a:r>
            <a:endParaRPr lang="en-US" altLang="zh-TW" sz="1400" dirty="0"/>
          </a:p>
          <a:p>
            <a:pPr algn="ctr"/>
            <a:r>
              <a:rPr lang="zh-TW" altLang="en-US" sz="1100" dirty="0"/>
              <a:t>正確率不再提升結束訓練</a:t>
            </a:r>
          </a:p>
        </p:txBody>
      </p: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EBE912E2-6F2F-4D7F-A9BD-8B83E53DBEBC}"/>
              </a:ext>
            </a:extLst>
          </p:cNvPr>
          <p:cNvGrpSpPr/>
          <p:nvPr/>
        </p:nvGrpSpPr>
        <p:grpSpPr>
          <a:xfrm>
            <a:off x="400037" y="3475814"/>
            <a:ext cx="3777271" cy="935583"/>
            <a:chOff x="400037" y="3475814"/>
            <a:chExt cx="3777271" cy="935583"/>
          </a:xfrm>
        </p:grpSpPr>
        <p:pic>
          <p:nvPicPr>
            <p:cNvPr id="34" name="圖片 33">
              <a:extLst>
                <a:ext uri="{FF2B5EF4-FFF2-40B4-BE49-F238E27FC236}">
                  <a16:creationId xmlns:a16="http://schemas.microsoft.com/office/drawing/2014/main" id="{9F8E2786-C47E-4B5F-B36A-492B4523F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00037" y="3475814"/>
              <a:ext cx="3777271" cy="935583"/>
            </a:xfrm>
            <a:prstGeom prst="rect">
              <a:avLst/>
            </a:prstGeom>
          </p:spPr>
        </p:pic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0CC78C8C-AD6B-44DA-9BC6-B7CC40671603}"/>
                </a:ext>
              </a:extLst>
            </p:cNvPr>
            <p:cNvCxnSpPr/>
            <p:nvPr/>
          </p:nvCxnSpPr>
          <p:spPr>
            <a:xfrm>
              <a:off x="1765040" y="3812063"/>
              <a:ext cx="792088" cy="0"/>
            </a:xfrm>
            <a:prstGeom prst="line">
              <a:avLst/>
            </a:prstGeom>
            <a:ln>
              <a:solidFill>
                <a:srgbClr val="FFBC8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>
              <a:extLst>
                <a:ext uri="{FF2B5EF4-FFF2-40B4-BE49-F238E27FC236}">
                  <a16:creationId xmlns:a16="http://schemas.microsoft.com/office/drawing/2014/main" id="{11B57D3E-BFE2-4C37-B275-A63116C7D220}"/>
                </a:ext>
              </a:extLst>
            </p:cNvPr>
            <p:cNvCxnSpPr>
              <a:cxnSpLocks/>
            </p:cNvCxnSpPr>
            <p:nvPr/>
          </p:nvCxnSpPr>
          <p:spPr>
            <a:xfrm>
              <a:off x="1765040" y="4334121"/>
              <a:ext cx="828092" cy="0"/>
            </a:xfrm>
            <a:prstGeom prst="line">
              <a:avLst/>
            </a:prstGeom>
            <a:ln>
              <a:solidFill>
                <a:srgbClr val="FFBC8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4" name="圖片 43">
            <a:extLst>
              <a:ext uri="{FF2B5EF4-FFF2-40B4-BE49-F238E27FC236}">
                <a16:creationId xmlns:a16="http://schemas.microsoft.com/office/drawing/2014/main" id="{1D32A4DF-7A16-43C8-AD7E-262A3E8305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7624" y="4409308"/>
            <a:ext cx="2556205" cy="447551"/>
          </a:xfrm>
          <a:prstGeom prst="rect">
            <a:avLst/>
          </a:prstGeom>
        </p:spPr>
      </p:pic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D40FE86F-A7DF-45A2-ADF9-338C51202D86}"/>
              </a:ext>
            </a:extLst>
          </p:cNvPr>
          <p:cNvCxnSpPr/>
          <p:nvPr/>
        </p:nvCxnSpPr>
        <p:spPr>
          <a:xfrm>
            <a:off x="400037" y="3475814"/>
            <a:ext cx="8420435" cy="13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圖片 14">
            <a:extLst>
              <a:ext uri="{FF2B5EF4-FFF2-40B4-BE49-F238E27FC236}">
                <a16:creationId xmlns:a16="http://schemas.microsoft.com/office/drawing/2014/main" id="{8304924D-3617-4D1E-89F6-FDA7B66F44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2220" y="3184612"/>
            <a:ext cx="516705" cy="14836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661FA3E-3EFC-4F33-B442-37624961AF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183" y="1228906"/>
            <a:ext cx="516705" cy="14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3754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C011E069-B19F-4AE5-BC71-93ACC8A611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5088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15C8AB24-C361-438C-8C21-B28815BE0A25}"/>
              </a:ext>
            </a:extLst>
          </p:cNvPr>
          <p:cNvSpPr/>
          <p:nvPr/>
        </p:nvSpPr>
        <p:spPr>
          <a:xfrm>
            <a:off x="323528" y="268288"/>
            <a:ext cx="8568952" cy="4644516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2921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4FEEDF-5FEB-4B8E-AB61-20A4C939EA6D}"/>
              </a:ext>
            </a:extLst>
          </p:cNvPr>
          <p:cNvSpPr/>
          <p:nvPr/>
        </p:nvSpPr>
        <p:spPr>
          <a:xfrm>
            <a:off x="0" y="2356520"/>
            <a:ext cx="1835696" cy="4680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323528" y="2362907"/>
            <a:ext cx="133214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TW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測試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644B796-7789-425A-ACA6-3A1C05EBC10C}"/>
              </a:ext>
            </a:extLst>
          </p:cNvPr>
          <p:cNvSpPr/>
          <p:nvPr/>
        </p:nvSpPr>
        <p:spPr>
          <a:xfrm>
            <a:off x="2483768" y="1108753"/>
            <a:ext cx="4429000" cy="2952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21BC4F35-DB04-4886-83F0-79D100DC45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792" y="1324776"/>
            <a:ext cx="4088245" cy="251211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E792E54-6B6F-43C5-AACA-50688B1BA1AA}"/>
              </a:ext>
            </a:extLst>
          </p:cNvPr>
          <p:cNvSpPr/>
          <p:nvPr/>
        </p:nvSpPr>
        <p:spPr>
          <a:xfrm>
            <a:off x="2865996" y="2968588"/>
            <a:ext cx="1656184" cy="10801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接箭头连接符 46">
            <a:extLst>
              <a:ext uri="{FF2B5EF4-FFF2-40B4-BE49-F238E27FC236}">
                <a16:creationId xmlns:a16="http://schemas.microsoft.com/office/drawing/2014/main" id="{E0224B33-F3A7-436B-B77A-1B349ADCCADC}"/>
              </a:ext>
            </a:extLst>
          </p:cNvPr>
          <p:cNvCxnSpPr>
            <a:cxnSpLocks/>
          </p:cNvCxnSpPr>
          <p:nvPr/>
        </p:nvCxnSpPr>
        <p:spPr>
          <a:xfrm>
            <a:off x="539552" y="4408748"/>
            <a:ext cx="8147763" cy="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圆角矩形 82">
            <a:extLst>
              <a:ext uri="{FF2B5EF4-FFF2-40B4-BE49-F238E27FC236}">
                <a16:creationId xmlns:a16="http://schemas.microsoft.com/office/drawing/2014/main" id="{D91A3FDB-C1E5-42DC-8DAB-8BCFE04D413F}"/>
              </a:ext>
            </a:extLst>
          </p:cNvPr>
          <p:cNvSpPr/>
          <p:nvPr/>
        </p:nvSpPr>
        <p:spPr>
          <a:xfrm>
            <a:off x="932085" y="4233505"/>
            <a:ext cx="1145259" cy="35048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rtlCol="0" anchor="ctr"/>
          <a:lstStyle/>
          <a:p>
            <a:pPr algn="ctr"/>
            <a:r>
              <a:rPr lang="zh-TW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  <a:sym typeface="Arial" panose="020B0604020202020204" pitchFamily="34" charset="0"/>
              </a:rPr>
              <a:t>手動抓圖命名</a:t>
            </a:r>
            <a:endParaRPr lang="en-US" altLang="zh-CN" sz="11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anose="020B0606030504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圆角矩形 86">
            <a:extLst>
              <a:ext uri="{FF2B5EF4-FFF2-40B4-BE49-F238E27FC236}">
                <a16:creationId xmlns:a16="http://schemas.microsoft.com/office/drawing/2014/main" id="{368727A7-6D5F-41C2-B188-E91B6B2FBBBD}"/>
              </a:ext>
            </a:extLst>
          </p:cNvPr>
          <p:cNvSpPr/>
          <p:nvPr/>
        </p:nvSpPr>
        <p:spPr>
          <a:xfrm>
            <a:off x="2154503" y="4233505"/>
            <a:ext cx="1145259" cy="35048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  <a:sym typeface="Arial" panose="020B0604020202020204" pitchFamily="34" charset="0"/>
              </a:rPr>
              <a:t>Test Data</a:t>
            </a:r>
          </a:p>
        </p:txBody>
      </p:sp>
      <p:sp>
        <p:nvSpPr>
          <p:cNvPr id="17" name="圆角矩形 90">
            <a:extLst>
              <a:ext uri="{FF2B5EF4-FFF2-40B4-BE49-F238E27FC236}">
                <a16:creationId xmlns:a16="http://schemas.microsoft.com/office/drawing/2014/main" id="{AD68B763-C41E-46A2-ABA1-E2362DE0BE27}"/>
              </a:ext>
            </a:extLst>
          </p:cNvPr>
          <p:cNvSpPr/>
          <p:nvPr/>
        </p:nvSpPr>
        <p:spPr>
          <a:xfrm>
            <a:off x="3376921" y="4233504"/>
            <a:ext cx="1145259" cy="35048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rtlCol="0" anchor="ctr"/>
          <a:lstStyle/>
          <a:p>
            <a:pPr algn="ctr"/>
            <a:r>
              <a:rPr lang="zh-TW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  <a:sym typeface="Arial" panose="020B0604020202020204" pitchFamily="34" charset="0"/>
              </a:rPr>
              <a:t>挑選</a:t>
            </a:r>
            <a:r>
              <a:rPr lang="en-US" altLang="zh-TW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  <a:sym typeface="Arial" panose="020B0604020202020204" pitchFamily="34" charset="0"/>
              </a:rPr>
              <a:t>Model</a:t>
            </a:r>
            <a:endParaRPr lang="en-US" altLang="zh-CN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anose="020B0606030504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圆角矩形 86">
            <a:extLst>
              <a:ext uri="{FF2B5EF4-FFF2-40B4-BE49-F238E27FC236}">
                <a16:creationId xmlns:a16="http://schemas.microsoft.com/office/drawing/2014/main" id="{267BB360-1068-4069-9873-483E374C0C1A}"/>
              </a:ext>
            </a:extLst>
          </p:cNvPr>
          <p:cNvSpPr/>
          <p:nvPr/>
        </p:nvSpPr>
        <p:spPr>
          <a:xfrm>
            <a:off x="4599339" y="4215503"/>
            <a:ext cx="1145259" cy="35048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rtlCol="0" anchor="ctr"/>
          <a:lstStyle/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  <a:sym typeface="Arial" panose="020B0604020202020204" pitchFamily="34" charset="0"/>
              </a:rPr>
              <a:t>爬蟲抓圖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anose="020B0606030504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圆角矩形 90">
            <a:extLst>
              <a:ext uri="{FF2B5EF4-FFF2-40B4-BE49-F238E27FC236}">
                <a16:creationId xmlns:a16="http://schemas.microsoft.com/office/drawing/2014/main" id="{03A4B06D-CD7C-4A17-AFA2-A6B55DD0A1AC}"/>
              </a:ext>
            </a:extLst>
          </p:cNvPr>
          <p:cNvSpPr/>
          <p:nvPr/>
        </p:nvSpPr>
        <p:spPr>
          <a:xfrm>
            <a:off x="5821757" y="4215503"/>
            <a:ext cx="1145259" cy="35048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rtlCol="0" anchor="ctr"/>
          <a:lstStyle/>
          <a:p>
            <a:pPr algn="ctr"/>
            <a:r>
              <a:rPr lang="en-US" altLang="zh-TW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  <a:sym typeface="Arial" panose="020B0604020202020204" pitchFamily="34" charset="0"/>
              </a:rPr>
              <a:t>Model</a:t>
            </a:r>
            <a:r>
              <a:rPr lang="zh-TW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  <a:sym typeface="Arial" panose="020B0604020202020204" pitchFamily="34" charset="0"/>
              </a:rPr>
              <a:t>命名</a:t>
            </a:r>
            <a:endParaRPr lang="en-US" altLang="zh-CN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anose="020B0606030504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圆角矩形 86">
            <a:extLst>
              <a:ext uri="{FF2B5EF4-FFF2-40B4-BE49-F238E27FC236}">
                <a16:creationId xmlns:a16="http://schemas.microsoft.com/office/drawing/2014/main" id="{0C6B5C1F-0066-486E-A185-6C0714343D46}"/>
              </a:ext>
            </a:extLst>
          </p:cNvPr>
          <p:cNvSpPr/>
          <p:nvPr/>
        </p:nvSpPr>
        <p:spPr>
          <a:xfrm>
            <a:off x="7044175" y="4215503"/>
            <a:ext cx="1145259" cy="35048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rtlCol="0" anchor="ctr"/>
          <a:lstStyle/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  <a:sym typeface="Arial" panose="020B0604020202020204" pitchFamily="34" charset="0"/>
              </a:rPr>
              <a:t>增大測試集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anose="020B0606030504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0399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0" grpId="0"/>
      <p:bldP spid="15" grpId="0" animBg="1"/>
      <p:bldP spid="16" grpId="0" animBg="1"/>
      <p:bldP spid="17" grpId="0" animBg="1"/>
      <p:bldP spid="19" grpId="0" animBg="1"/>
      <p:bldP spid="22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C011E069-B19F-4AE5-BC71-93ACC8A611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5088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15C8AB24-C361-438C-8C21-B28815BE0A25}"/>
              </a:ext>
            </a:extLst>
          </p:cNvPr>
          <p:cNvSpPr/>
          <p:nvPr/>
        </p:nvSpPr>
        <p:spPr>
          <a:xfrm>
            <a:off x="323528" y="250286"/>
            <a:ext cx="8568952" cy="4644516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2921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FFFF00"/>
              </a:highlight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4FEEDF-5FEB-4B8E-AB61-20A4C939EA6D}"/>
              </a:ext>
            </a:extLst>
          </p:cNvPr>
          <p:cNvSpPr/>
          <p:nvPr/>
        </p:nvSpPr>
        <p:spPr>
          <a:xfrm>
            <a:off x="0" y="2356520"/>
            <a:ext cx="1835696" cy="4680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FF217DD-0C24-4EE9-897D-C6D0E3B9D6C7}"/>
              </a:ext>
            </a:extLst>
          </p:cNvPr>
          <p:cNvSpPr/>
          <p:nvPr/>
        </p:nvSpPr>
        <p:spPr>
          <a:xfrm>
            <a:off x="2029249" y="1024372"/>
            <a:ext cx="3135803" cy="2880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2ED3E9E-A352-47D6-AC6A-424BB2C2BEB2}"/>
              </a:ext>
            </a:extLst>
          </p:cNvPr>
          <p:cNvSpPr/>
          <p:nvPr/>
        </p:nvSpPr>
        <p:spPr>
          <a:xfrm>
            <a:off x="5292080" y="916360"/>
            <a:ext cx="3420380" cy="33123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0C21C51-D609-4D60-BA0A-ED180F1FA62B}"/>
              </a:ext>
            </a:extLst>
          </p:cNvPr>
          <p:cNvSpPr/>
          <p:nvPr/>
        </p:nvSpPr>
        <p:spPr>
          <a:xfrm>
            <a:off x="5555855" y="2068488"/>
            <a:ext cx="744337" cy="792088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B2EE117-7561-487B-BCAF-C0061BCB0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638" y="1096940"/>
            <a:ext cx="3008134" cy="2735184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CC223EE3-6228-4FAC-B65A-6AC2E84030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9123" y="972872"/>
            <a:ext cx="3278976" cy="3199344"/>
          </a:xfrm>
          <a:prstGeom prst="rect">
            <a:avLst/>
          </a:prstGeom>
        </p:spPr>
      </p:pic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5D00593B-A06A-401B-A253-AA9F2A5B2FDB}"/>
              </a:ext>
            </a:extLst>
          </p:cNvPr>
          <p:cNvCxnSpPr>
            <a:cxnSpLocks/>
          </p:cNvCxnSpPr>
          <p:nvPr/>
        </p:nvCxnSpPr>
        <p:spPr>
          <a:xfrm>
            <a:off x="4175956" y="1384412"/>
            <a:ext cx="1464806" cy="13681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29">
            <a:extLst>
              <a:ext uri="{FF2B5EF4-FFF2-40B4-BE49-F238E27FC236}">
                <a16:creationId xmlns:a16="http://schemas.microsoft.com/office/drawing/2014/main" id="{A3716D9F-E39D-46FD-B281-779A5D8DB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362907"/>
            <a:ext cx="133214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TW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測試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31321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C011E069-B19F-4AE5-BC71-93ACC8A611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5088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15C8AB24-C361-438C-8C21-B28815BE0A25}"/>
              </a:ext>
            </a:extLst>
          </p:cNvPr>
          <p:cNvSpPr/>
          <p:nvPr/>
        </p:nvSpPr>
        <p:spPr>
          <a:xfrm>
            <a:off x="323528" y="268288"/>
            <a:ext cx="8568952" cy="4644516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2921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4FEEDF-5FEB-4B8E-AB61-20A4C939EA6D}"/>
              </a:ext>
            </a:extLst>
          </p:cNvPr>
          <p:cNvSpPr/>
          <p:nvPr/>
        </p:nvSpPr>
        <p:spPr>
          <a:xfrm>
            <a:off x="0" y="2356520"/>
            <a:ext cx="1835696" cy="4680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323528" y="2362907"/>
            <a:ext cx="133214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6C41F7E9-321E-4DDD-8BF4-3FCD624DE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8836" y="1943310"/>
            <a:ext cx="2136452" cy="1294472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A3941AB6-C423-4144-8A4B-0FF59FE7B8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903" y="484312"/>
            <a:ext cx="2163130" cy="1294472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9CF9E85C-AFF6-49EE-984C-3017B12AC4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8184" y="2129093"/>
            <a:ext cx="2163130" cy="133248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A99AEA5-7150-459D-AE28-F7B00F78F2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1920" y="3325776"/>
            <a:ext cx="2327300" cy="139514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45643AA-786B-4FEB-A8D9-F1BFD5B5E6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686" y="3012357"/>
            <a:ext cx="2041461" cy="123247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32C7998D-4FBF-495D-B4F0-A7C3D9AD24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0163" y="733111"/>
            <a:ext cx="1608321" cy="984774"/>
          </a:xfrm>
          <a:prstGeom prst="rect">
            <a:avLst/>
          </a:prstGeom>
        </p:spPr>
      </p:pic>
      <p:sp>
        <p:nvSpPr>
          <p:cNvPr id="14" name="TextBox 29">
            <a:extLst>
              <a:ext uri="{FF2B5EF4-FFF2-40B4-BE49-F238E27FC236}">
                <a16:creationId xmlns:a16="http://schemas.microsoft.com/office/drawing/2014/main" id="{60225BE4-6327-4EA6-B13D-3879DC7ED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07" y="2346580"/>
            <a:ext cx="133214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TW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結果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52847D8A-4B5E-49A7-857A-BDFD9F4F0D0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3848" y="700336"/>
            <a:ext cx="2163130" cy="96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9411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0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C011E069-B19F-4AE5-BC71-93ACC8A611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5088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15C8AB24-C361-438C-8C21-B28815BE0A25}"/>
              </a:ext>
            </a:extLst>
          </p:cNvPr>
          <p:cNvSpPr/>
          <p:nvPr/>
        </p:nvSpPr>
        <p:spPr>
          <a:xfrm>
            <a:off x="323528" y="268288"/>
            <a:ext cx="8568952" cy="4644516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2921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4FEEDF-5FEB-4B8E-AB61-20A4C939EA6D}"/>
              </a:ext>
            </a:extLst>
          </p:cNvPr>
          <p:cNvSpPr/>
          <p:nvPr/>
        </p:nvSpPr>
        <p:spPr>
          <a:xfrm>
            <a:off x="0" y="2356520"/>
            <a:ext cx="1835696" cy="4680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323528" y="2362907"/>
            <a:ext cx="133214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TW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後談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9AC9BA58-48D1-417B-BF3D-FB3F95A98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5716" y="673963"/>
            <a:ext cx="5641775" cy="189478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E7EA6FF-8F3C-435F-A8D6-1020B80B05B3}"/>
              </a:ext>
            </a:extLst>
          </p:cNvPr>
          <p:cNvSpPr/>
          <p:nvPr/>
        </p:nvSpPr>
        <p:spPr>
          <a:xfrm>
            <a:off x="5043686" y="3425026"/>
            <a:ext cx="2376264" cy="12241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Wrong Answer</a:t>
            </a:r>
            <a:r>
              <a:rPr lang="zh-TW" altLang="en-US" sz="1400" dirty="0"/>
              <a:t>：</a:t>
            </a:r>
            <a:endParaRPr lang="en-US" altLang="zh-TW" sz="1400" dirty="0"/>
          </a:p>
          <a:p>
            <a:pPr algn="ctr"/>
            <a:r>
              <a:rPr lang="en-US" altLang="zh-TW" sz="1400" dirty="0"/>
              <a:t>85 words</a:t>
            </a:r>
          </a:p>
          <a:p>
            <a:pPr algn="ctr"/>
            <a:r>
              <a:rPr lang="en-US" altLang="zh-TW" sz="1400" dirty="0"/>
              <a:t>67 images</a:t>
            </a:r>
          </a:p>
          <a:p>
            <a:pPr algn="ctr"/>
            <a:r>
              <a:rPr lang="en-US" altLang="zh-TW" sz="1400" dirty="0"/>
              <a:t>One word acc</a:t>
            </a:r>
            <a:r>
              <a:rPr lang="zh-TW" altLang="en-US" sz="1400" dirty="0"/>
              <a:t>：</a:t>
            </a:r>
            <a:r>
              <a:rPr lang="en-US" altLang="zh-TW" sz="1400" dirty="0"/>
              <a:t>0.9929</a:t>
            </a:r>
          </a:p>
          <a:p>
            <a:pPr algn="ctr"/>
            <a:r>
              <a:rPr lang="en-US" altLang="zh-TW" sz="1400" dirty="0"/>
              <a:t>Four word acc : 0.9776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5B45C4C-406E-4DC7-BD77-A356532A51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4068" y="2666084"/>
            <a:ext cx="2095500" cy="4953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9F4F518-5CA1-4F82-B4D3-26B467AC358E}"/>
              </a:ext>
            </a:extLst>
          </p:cNvPr>
          <p:cNvSpPr/>
          <p:nvPr/>
        </p:nvSpPr>
        <p:spPr>
          <a:xfrm>
            <a:off x="5184068" y="2666084"/>
            <a:ext cx="2095500" cy="495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792D7C-D798-4466-B5CA-BB47F11C95FB}"/>
              </a:ext>
            </a:extLst>
          </p:cNvPr>
          <p:cNvSpPr/>
          <p:nvPr/>
        </p:nvSpPr>
        <p:spPr>
          <a:xfrm>
            <a:off x="2519772" y="673963"/>
            <a:ext cx="2016224" cy="190237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5DD44B1-8CC5-4D39-AAB0-3B4394899F16}"/>
              </a:ext>
            </a:extLst>
          </p:cNvPr>
          <p:cNvSpPr/>
          <p:nvPr/>
        </p:nvSpPr>
        <p:spPr>
          <a:xfrm>
            <a:off x="5544108" y="666369"/>
            <a:ext cx="1044116" cy="190997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5CFB885B-7192-4AAF-9665-FAEF1398E9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3570" y="2651703"/>
            <a:ext cx="2818979" cy="477634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DD8C2890-2088-497C-A513-52F0227FA564}"/>
              </a:ext>
            </a:extLst>
          </p:cNvPr>
          <p:cNvSpPr/>
          <p:nvPr/>
        </p:nvSpPr>
        <p:spPr>
          <a:xfrm>
            <a:off x="2113569" y="2666084"/>
            <a:ext cx="2818979" cy="49530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10D0FA9-FF06-4000-8F64-3E9B5C000A5B}"/>
              </a:ext>
            </a:extLst>
          </p:cNvPr>
          <p:cNvSpPr txBox="1"/>
          <p:nvPr/>
        </p:nvSpPr>
        <p:spPr>
          <a:xfrm>
            <a:off x="5713275" y="311260"/>
            <a:ext cx="2124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空白處表預測正確  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0DB5A82-DEA2-4B29-999F-ABE4B966A7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5756" y="3508648"/>
            <a:ext cx="2065774" cy="109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8123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526"/>
</p:tagLst>
</file>

<file path=ppt/theme/theme1.xml><?xml version="1.0" encoding="utf-8"?>
<a:theme xmlns:a="http://schemas.openxmlformats.org/drawingml/2006/main" name="Office 主题">
  <a:themeElements>
    <a:clrScheme name="自定义 123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68A92"/>
      </a:accent1>
      <a:accent2>
        <a:srgbClr val="BFBFBF"/>
      </a:accent2>
      <a:accent3>
        <a:srgbClr val="468A92"/>
      </a:accent3>
      <a:accent4>
        <a:srgbClr val="BFBFBF"/>
      </a:accent4>
      <a:accent5>
        <a:srgbClr val="468A92"/>
      </a:accent5>
      <a:accent6>
        <a:srgbClr val="BFBFBF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1825</TotalTime>
  <Words>200</Words>
  <Application>Microsoft Office PowerPoint</Application>
  <PresentationFormat>自訂</PresentationFormat>
  <Paragraphs>51</Paragraphs>
  <Slides>13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9" baseType="lpstr">
      <vt:lpstr>方正姚体</vt:lpstr>
      <vt:lpstr>微软雅黑</vt:lpstr>
      <vt:lpstr>Arial</vt:lpstr>
      <vt:lpstr>Calibri</vt:lpstr>
      <vt:lpstr>Wingdings</vt:lpstr>
      <vt:lpstr>Office 主题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kan</dc:creator>
  <dc:description>http://www.ypppt.com/</dc:description>
  <cp:lastModifiedBy>苯異丙胺</cp:lastModifiedBy>
  <cp:revision>34</cp:revision>
  <dcterms:created xsi:type="dcterms:W3CDTF">2017-06-16T01:06:50Z</dcterms:created>
  <dcterms:modified xsi:type="dcterms:W3CDTF">2020-06-03T16:02:26Z</dcterms:modified>
</cp:coreProperties>
</file>